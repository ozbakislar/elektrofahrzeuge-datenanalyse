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A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-1828800" y="4572000"/>
            <a:ext cx="3840480" cy="3840480"/>
          </a:xfrm>
          <a:prstGeom prst="ellipse">
            <a:avLst/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4" descr="/home/claude/images/icon_za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8" y="9637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822960" y="21488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FB5C9"/>
                </a:solidFill>
                <a:latin typeface="Calibri"/>
                <a:ea typeface="Calibri"/>
                <a:cs typeface="Calibri"/>
                <a:sym typeface="Calibri"/>
              </a:rPr>
              <a:t>KEŞİFSEL VERİ ANALİZİ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777240" y="251460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lang="en-US" sz="4800" b="1" i="0" u="none" strike="noStrike" cap="none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Elektrikli</a:t>
            </a:r>
            <a:r>
              <a:rPr lang="en-US" sz="48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4800" b="1" i="0" u="none" strike="noStrike" cap="none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Araçlar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822960" y="361188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700"/>
              <a:buFont typeface="Calibri"/>
              <a:buNone/>
            </a:pPr>
            <a:r>
              <a:rPr lang="en-US" sz="170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Elektrikli</a:t>
            </a:r>
            <a:r>
              <a:rPr lang="en-US" sz="170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araç</a:t>
            </a:r>
            <a:r>
              <a:rPr lang="en-US" sz="170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modellerinin</a:t>
            </a:r>
            <a:r>
              <a:rPr lang="en-US" sz="170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teknik</a:t>
            </a:r>
            <a:r>
              <a:rPr lang="en-US" sz="170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170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ticari</a:t>
            </a:r>
            <a:r>
              <a:rPr lang="en-US" sz="170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performans</a:t>
            </a:r>
            <a:r>
              <a:rPr lang="en-US" sz="170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verileri</a:t>
            </a:r>
            <a:r>
              <a:rPr lang="en-US" sz="170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· 2020 – 2026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822960" y="44348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822960" y="45262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2.000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22960" y="5029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Gözlem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3154680" y="44348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154680" y="45262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24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154680" y="5029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Sütun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0" y="44348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486400" y="45262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0" y="5029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Marka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818120" y="44348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7818120" y="45262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818120" y="5029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Menşei Ülke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Hazırlayan:  Süha Çağrı Özbakışlar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" name="Google Shape;43;p5" descr="/home/claude/images/icon_databas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263" y="5201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1170432" y="36576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VERİ SETİ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1170432" y="603504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2500"/>
              <a:buFont typeface="Cambria"/>
              <a:buNone/>
            </a:pPr>
            <a:r>
              <a:rPr lang="en-US" sz="2500" b="1" i="0" u="none" strike="noStrike" cap="none" dirty="0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Veri </a:t>
            </a:r>
            <a:r>
              <a:rPr lang="en-US" sz="2500" b="1" i="0" u="none" strike="noStrike" cap="none" dirty="0" err="1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Seti</a:t>
            </a:r>
            <a:r>
              <a:rPr lang="en-US" sz="2500" b="1" dirty="0" err="1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ne</a:t>
            </a:r>
            <a:r>
              <a:rPr lang="en-US" sz="2500" b="1" i="0" u="none" strike="noStrike" cap="none" dirty="0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500" b="1" i="0" u="none" strike="noStrike" cap="none" dirty="0" err="1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Genel</a:t>
            </a:r>
            <a:r>
              <a:rPr lang="en-US" sz="2500" b="1" i="0" u="none" strike="noStrike" cap="none" dirty="0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500" b="1" i="0" u="none" strike="noStrike" cap="none" dirty="0" err="1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Bakış</a:t>
            </a:r>
            <a:r>
              <a:rPr lang="en-US" sz="2500" b="1" i="0" u="none" strike="noStrike" cap="none" dirty="0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 &amp; Veri </a:t>
            </a:r>
            <a:r>
              <a:rPr lang="en-US" sz="2500" b="1" i="0" u="none" strike="noStrike" cap="none" dirty="0" err="1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Kalitesi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57200" y="14173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62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621792" y="1563624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2200"/>
              <a:buFont typeface="Cambria"/>
              <a:buNone/>
            </a:pPr>
            <a:r>
              <a:rPr lang="en-US" sz="3000" b="1" i="0" u="none" strike="noStrike" cap="non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2.000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21792" y="2047749"/>
            <a:ext cx="2277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Gözlem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200400" y="14173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62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3364992" y="1563624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24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364992" y="2047749"/>
            <a:ext cx="2277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Sütun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943600" y="14173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62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108192" y="1563624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20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108192" y="2047749"/>
            <a:ext cx="2277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686800" y="14173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62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8851392" y="1563624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851392" y="2047749"/>
            <a:ext cx="2277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Eksik Değer / Tekrar Eden Kayıt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2670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Markaların Menşei Ülkeleri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57200" y="2999232"/>
            <a:ext cx="6035040" cy="370332"/>
          </a:xfrm>
          <a:prstGeom prst="roundRect">
            <a:avLst>
              <a:gd name="adj" fmla="val 14815"/>
            </a:avLst>
          </a:prstGeom>
          <a:solidFill>
            <a:srgbClr val="E7EF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03504" y="2999232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Almanya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103120" y="2999232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Audi, BMW, Mercedes, Porsche, Volkswagen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3442716"/>
            <a:ext cx="6035040" cy="370332"/>
          </a:xfrm>
          <a:prstGeom prst="roundRect">
            <a:avLst>
              <a:gd name="adj" fmla="val 14815"/>
            </a:avLst>
          </a:prstGeom>
          <a:solidFill>
            <a:srgbClr val="E7EF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03504" y="3442716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ABD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103120" y="3442716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Fisker, Ford, GM/Chevrolet, Lucid, Rivian, Tesla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57200" y="3886200"/>
            <a:ext cx="6035040" cy="370332"/>
          </a:xfrm>
          <a:prstGeom prst="roundRect">
            <a:avLst>
              <a:gd name="adj" fmla="val 14815"/>
            </a:avLst>
          </a:prstGeom>
          <a:solidFill>
            <a:srgbClr val="E7EF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03504" y="3886200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Japonya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103120" y="3886200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Honda, Toyota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7200" y="4329684"/>
            <a:ext cx="6035040" cy="370332"/>
          </a:xfrm>
          <a:prstGeom prst="roundRect">
            <a:avLst>
              <a:gd name="adj" fmla="val 14815"/>
            </a:avLst>
          </a:prstGeom>
          <a:solidFill>
            <a:srgbClr val="E7EF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03504" y="4329684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Güney Kore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103120" y="4329684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Hyundai, Kia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4773168"/>
            <a:ext cx="6035040" cy="370332"/>
          </a:xfrm>
          <a:prstGeom prst="roundRect">
            <a:avLst>
              <a:gd name="adj" fmla="val 14815"/>
            </a:avLst>
          </a:prstGeom>
          <a:solidFill>
            <a:srgbClr val="E7EF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03504" y="4773168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Çin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103120" y="4773168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BYD, NIO, Xiaomi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57200" y="5216652"/>
            <a:ext cx="6035040" cy="370332"/>
          </a:xfrm>
          <a:prstGeom prst="roundRect">
            <a:avLst>
              <a:gd name="adj" fmla="val 14815"/>
            </a:avLst>
          </a:prstGeom>
          <a:solidFill>
            <a:srgbClr val="E7EF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03504" y="5216652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İsveç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2103120" y="5216652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Polestar, Volvo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720840" y="2670048"/>
            <a:ext cx="4983480" cy="3593592"/>
          </a:xfrm>
          <a:prstGeom prst="roundRect">
            <a:avLst>
              <a:gd name="adj" fmla="val 2545"/>
            </a:avLst>
          </a:prstGeom>
          <a:solidFill>
            <a:srgbClr val="E7EFFB"/>
          </a:solidFill>
          <a:ln>
            <a:noFill/>
          </a:ln>
          <a:effectLst>
            <a:outerShdw blurRad="76200" dist="25400" dir="5400000" algn="bl" rotWithShape="0">
              <a:srgbClr val="16234A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995160" y="2944368"/>
            <a:ext cx="4434840" cy="3044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250"/>
              <a:buFont typeface="Calibri"/>
              <a:buChar char="●"/>
            </a:pP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Her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satır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belirli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markanın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belirli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yıl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varyanttaki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modelini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temsil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eder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(base, standard, long range, premium, performance).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16234A"/>
              </a:buClr>
              <a:buSzPts val="1250"/>
              <a:buFont typeface="Calibri"/>
              <a:buChar char="●"/>
            </a:pP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13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sayısal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7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kategorik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değişken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teknik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özellikleri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batarya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menzil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güç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ticari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göstergeleri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fiyat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satış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puan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kapsar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16234A"/>
              </a:buClr>
              <a:buSzPts val="1250"/>
              <a:buFont typeface="Calibri"/>
              <a:buChar char="●"/>
            </a:pP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Tüm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24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sütunda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eksik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değer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tekrar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eden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kayıt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yok —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eksiksiz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tutarlı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veri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seti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16234A"/>
              </a:buClr>
              <a:buSzPts val="1250"/>
              <a:buFont typeface="Calibri"/>
              <a:buChar char="●"/>
            </a:pP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Küresel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lektrikli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araç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pazarının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keşifsel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analizi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için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sağlam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temel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Süha Çağrı Özbakışlar  ·  Elektrikli Araç Pazar Analizi (EDA)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6" descr="/home/claude/images/icon_barcha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263" y="5201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1170432" y="36576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SAYISAL &amp; KATEGORİK DEĞİŞKENLER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170432" y="603504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2500"/>
              <a:buFont typeface="Cambria"/>
              <a:buNone/>
            </a:pPr>
            <a:r>
              <a:rPr lang="en-US" sz="2500" b="1" i="0" u="none" strike="noStrike" cap="none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En Önemli Dağılımlar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118872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Araç Fiyatı (price_usd)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57200" y="1481328"/>
            <a:ext cx="3566160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6234A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92;p6" descr="/home/claude/images/cell18_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1591056"/>
            <a:ext cx="3346704" cy="259689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4251960" y="118872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Marka (brand)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251960" y="1481328"/>
            <a:ext cx="3566160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6234A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6" descr="/home/claude/images/cell46_0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1688" y="1591056"/>
            <a:ext cx="3346704" cy="259689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8046720" y="118872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Pazar Segmenti (market_segment)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8046720" y="1481328"/>
            <a:ext cx="3566160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6234A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" name="Google Shape;98;p6" descr="/home/claude/images/cell58_0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6448" y="1591056"/>
            <a:ext cx="3346704" cy="259689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457200" y="457200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E7EFFB"/>
          </a:solidFill>
          <a:ln>
            <a:noFill/>
          </a:ln>
          <a:effectLst>
            <a:outerShdw blurRad="76200" dist="25400" dir="5400000" algn="bl" rotWithShape="0">
              <a:srgbClr val="16234A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94944" y="4809744"/>
            <a:ext cx="10771632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200"/>
              <a:buFont typeface="Calibri"/>
              <a:buChar char="●"/>
            </a:pP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Araç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fiyatları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sağa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çarpık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dağılmaktadır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(Ø 78.874 $,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medyan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73.013 $)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50.000–100.000 $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aralığında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yoğunlaşmaktadır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16234A"/>
              </a:buClr>
              <a:buSzPts val="1200"/>
              <a:buFont typeface="Calibri"/>
              <a:buChar char="●"/>
            </a:pP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Tesla 434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araçla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baskın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marka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onu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BYD (282)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Volkswagen (194)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izliyor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veri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setinde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toplam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20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marka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var.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16234A"/>
              </a:buClr>
              <a:buSzPts val="1200"/>
              <a:buFont typeface="Calibri"/>
              <a:buChar char="●"/>
            </a:pP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Veri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seti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premium (712)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mid-range (642)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segmentlerinde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yoğunlaşıyor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; budget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segmenti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151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araçla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zayıf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temsil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edilen</a:t>
            </a:r>
            <a:r>
              <a:rPr lang="en-US" sz="120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segment.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Süha Çağrı Özbakışlar  ·  Elektrikli Araç Pazar Analizi (EDA)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7" descr="/home/claude/images/icon_trendi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263" y="5201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1170432" y="36576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İKİLİ DEĞİŞKEN ANALİZİ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170432" y="603504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2500"/>
              <a:buFont typeface="Cambria"/>
              <a:buNone/>
            </a:pPr>
            <a:r>
              <a:rPr lang="en-US" sz="2500" b="1" i="0" u="none" strike="noStrike" cap="none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İlişkiler &amp; Korelasyonlar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57200" y="1417320"/>
            <a:ext cx="66751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6234A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7" descr="/home/claude/images/cell61_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1527048"/>
            <a:ext cx="6455664" cy="462686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7360920" y="1417320"/>
            <a:ext cx="4343400" cy="1463040"/>
          </a:xfrm>
          <a:prstGeom prst="roundRect">
            <a:avLst>
              <a:gd name="adj" fmla="val 6250"/>
            </a:avLst>
          </a:prstGeom>
          <a:solidFill>
            <a:srgbClr val="162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7525512" y="1563624"/>
            <a:ext cx="401421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r = 0,978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525512" y="2273850"/>
            <a:ext cx="40143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Batarya kapasitesi ↔ menzil (çok güçlü) — daha büyük batarya, daha fazla menzil.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360920" y="3017520"/>
            <a:ext cx="4343400" cy="1463040"/>
          </a:xfrm>
          <a:prstGeom prst="roundRect">
            <a:avLst>
              <a:gd name="adj" fmla="val 6250"/>
            </a:avLst>
          </a:prstGeom>
          <a:solidFill>
            <a:srgbClr val="162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7525512" y="3163824"/>
            <a:ext cx="401421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r = 0,765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7525512" y="3874050"/>
            <a:ext cx="40143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Motor gücü ↔ fiyat (güçlü) — fiyat yalnızca güçle açıklanamaz.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360920" y="4617720"/>
            <a:ext cx="4343400" cy="1463040"/>
          </a:xfrm>
          <a:prstGeom prst="roundRect">
            <a:avLst>
              <a:gd name="adj" fmla="val 6250"/>
            </a:avLst>
          </a:prstGeom>
          <a:solidFill>
            <a:srgbClr val="162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7525512" y="4764024"/>
            <a:ext cx="401421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r = 0,668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525512" y="5474250"/>
            <a:ext cx="40143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Menzil ↔ müşteri puanı (orta güçlü) — daha fazla menzil, daha yüksek memnuniyet.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Süha Çağrı Özbakışlar  ·  Elektrikli Araç Pazar Analizi (EDA)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2" name="Google Shape;132;p8" descr="/home/claude/images/icon_awar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263" y="5201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"/>
          <p:cNvSpPr/>
          <p:nvPr/>
        </p:nvSpPr>
        <p:spPr>
          <a:xfrm>
            <a:off x="1170432" y="435944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mbria"/>
              <a:buNone/>
            </a:pPr>
            <a:r>
              <a:rPr lang="en-US" sz="25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İş İçgörüleri &amp; Sonuç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57200" y="169164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658368" y="1851660"/>
            <a:ext cx="548640" cy="5486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" name="Google Shape;136;p8" descr="/home/claude/images/icon_zap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042" y="198333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/>
          <p:nvPr/>
        </p:nvSpPr>
        <p:spPr>
          <a:xfrm>
            <a:off x="1389888" y="1773936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Menzilin En Güçlü Belirleyicisi: Batarya Kapasitesi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389888" y="2112264"/>
            <a:ext cx="996696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Çok güçlü bir ilişki (r = 0,978) — daha büyük batarya paketleri belirgin şekilde daha fazla menzil sağlar.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57200" y="2670048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658368" y="2830068"/>
            <a:ext cx="548640" cy="5486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" name="Google Shape;141;p8" descr="/home/claude/images/icon_dolla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0042" y="296174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1389888" y="2752344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Fiyatı Bataryadan Daha Çok Motor Gücü Belirliyor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1389888" y="3090672"/>
            <a:ext cx="996696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080"/>
              <a:buFont typeface="Calibri"/>
              <a:buNone/>
            </a:pP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Fiyat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↔ </a:t>
            </a: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güç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ilişkisi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(r = 0,765), </a:t>
            </a: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fiyat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↔ </a:t>
            </a: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batarya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kapasitesi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ilişkisinden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(r = 0,164) </a:t>
            </a: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çok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daha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güçlü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8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57200" y="3648456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658368" y="3808476"/>
            <a:ext cx="548640" cy="5486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8" descr="/home/claude/images/icon_trendin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0042" y="3940150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1389888" y="3730752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Yüksek Fiyat Otomatik Olarak Yüksek Satış Anlamına Gelmiyor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389888" y="4069080"/>
            <a:ext cx="996696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080"/>
              <a:buFont typeface="Calibri"/>
              <a:buNone/>
            </a:pP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Lucid </a:t>
            </a: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fiyatta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önde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, ama </a:t>
            </a: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satışta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VW, Tesla </a:t>
            </a: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budget </a:t>
            </a: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segmenti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80" b="0" i="0" u="none" strike="noStrike" cap="none" dirty="0" err="1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önde</a:t>
            </a:r>
            <a:r>
              <a:rPr lang="en-US" sz="108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8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4626864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658368" y="4786884"/>
            <a:ext cx="548640" cy="5486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8" descr="/home/claude/images/icon_gri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0042" y="4918558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/>
          <p:nvPr/>
        </p:nvSpPr>
        <p:spPr>
          <a:xfrm>
            <a:off x="1389888" y="4709160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Birden Fazla Faktör Birlikte Etkili Oluyor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1389888" y="5047488"/>
            <a:ext cx="996696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Fiyat, memnuniyet ve satış yalnızca marka, segment ve teknik özelliklerin birlikte etkisiyle açıklanabiliyor.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5678424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0FB5C9"/>
                </a:solidFill>
                <a:latin typeface="Calibri"/>
                <a:ea typeface="Calibri"/>
                <a:cs typeface="Calibri"/>
                <a:sym typeface="Calibri"/>
              </a:rPr>
              <a:t>Sonuç: Veri seti eksiksiz ve tutarlıdır; tahmine dayalı modelleme ve iş zekâsı uygulamaları için sağlam bir temel oluşturur.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Hazırlayan:  Süha Çağrı Özbakışlar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Microsoft Office PowerPoint</Application>
  <PresentationFormat>Breitbild</PresentationFormat>
  <Paragraphs>77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Süha Çağrı Özbakışlar</cp:lastModifiedBy>
  <cp:revision>1</cp:revision>
  <dcterms:modified xsi:type="dcterms:W3CDTF">2026-08-26T10:19:49Z</dcterms:modified>
</cp:coreProperties>
</file>