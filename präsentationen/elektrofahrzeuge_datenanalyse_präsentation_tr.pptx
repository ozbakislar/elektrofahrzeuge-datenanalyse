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" name="Google Shape;3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image" Target="../media/image11.png"/><Relationship Id="rId7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34A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4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zap.png" id="20" name="Google Shape;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9498" y="963778"/>
            <a:ext cx="404165" cy="4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/>
          <p:nvPr/>
        </p:nvSpPr>
        <p:spPr>
          <a:xfrm>
            <a:off x="822960" y="214884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B5C9"/>
                </a:solidFill>
                <a:latin typeface="Calibri"/>
                <a:ea typeface="Calibri"/>
                <a:cs typeface="Calibri"/>
                <a:sym typeface="Calibri"/>
              </a:rPr>
              <a:t>KEŞİFSEL VERİ ANALİZİ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777240" y="251460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Elektrikli Araçlar (EV)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822960" y="361188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EV modellerinin teknik ve ticari performans verileri · 2020 – 2026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82296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2.000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2296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Gözlem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315468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315468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315468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Sütun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548640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548640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48640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Marka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781812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781812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781812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Menşei Ülke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Hazırlayan:  Süha Çağrı Özbakışlar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database.png" id="43" name="Google Shape;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5"/>
          <p:cNvSpPr/>
          <p:nvPr/>
        </p:nvSpPr>
        <p:spPr>
          <a:xfrm>
            <a:off x="1170432" y="3657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VERİ SETİ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1170432" y="60350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16234A"/>
                </a:solidFill>
                <a:latin typeface="Cambria"/>
                <a:ea typeface="Cambria"/>
                <a:cs typeface="Cambria"/>
                <a:sym typeface="Cambria"/>
              </a:rPr>
              <a:t>Veri Seti Genel Bakışı &amp; Veri Kalitesi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4572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6217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2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2.000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6217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Gözlem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32004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5"/>
          <p:cNvSpPr/>
          <p:nvPr/>
        </p:nvSpPr>
        <p:spPr>
          <a:xfrm>
            <a:off x="33649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24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33649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Sütun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59436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/>
          <p:nvPr/>
        </p:nvSpPr>
        <p:spPr>
          <a:xfrm>
            <a:off x="61081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61081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Marka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86868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88513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88513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Eksik Değer / Tekrar Eden Kayıt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457200" y="26700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Markaların Menşei Ülkeleri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57200" y="2999232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03504" y="2999232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Almanya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2103120" y="2999232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Audi, BMW, Mercedes, Porsche, Volkswagen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457200" y="3442716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603504" y="3442716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ABD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2103120" y="3442716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Fisker, Ford, GM/Chevrolet, Lucid, Rivian, Tesla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457200" y="3886200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03504" y="3886200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Japonya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2103120" y="3886200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Honda, Toyota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57200" y="4329684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03504" y="4329684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Güney Kore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2103120" y="4329684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Hyundai, Kia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57200" y="4773168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603504" y="4773168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Çin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2103120" y="4773168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BYD, NIO, Xiaomi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457200" y="5216652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603504" y="5216652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İsveç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2103120" y="5216652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Polestar, Volvo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6720840" y="2670048"/>
            <a:ext cx="4983480" cy="3593592"/>
          </a:xfrm>
          <a:prstGeom prst="roundRect">
            <a:avLst>
              <a:gd fmla="val 2545" name="adj"/>
            </a:avLst>
          </a:prstGeom>
          <a:solidFill>
            <a:srgbClr val="E7EFFB"/>
          </a:solidFill>
          <a:ln>
            <a:noFill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6995160" y="2944368"/>
            <a:ext cx="4434840" cy="30449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Her satır, belirli bir markanın belirli bir yıl ve varyanttaki modelini temsil eder (base, standard, long range, premium, performance).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13 sayısal ve 7 kategorik değişken; teknik özellikleri (batarya, menzil, güç) ve ticari göstergeleri (fiyat, satış, puan) kapsar.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Tüm 24 sütunda eksik değer ve tekrar eden kayıt yok — eksiksiz, tutarlı bir veri seti.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Küresel EV pazarının keşifsel analizi için sağlam bir temel.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57200" y="6547104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Süha Çağrı Özbakışlar  ·  Elektrikli Araç Pazar Analizi (EDA)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10607040" y="654710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barchart.png" id="87" name="Google Shape;8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6"/>
          <p:cNvSpPr/>
          <p:nvPr/>
        </p:nvSpPr>
        <p:spPr>
          <a:xfrm>
            <a:off x="1170432" y="3657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SAYISAL &amp; KATEGORİK DEĞİŞKENLER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1170432" y="60350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16234A"/>
                </a:solidFill>
                <a:latin typeface="Cambria"/>
                <a:ea typeface="Cambria"/>
                <a:cs typeface="Cambria"/>
                <a:sym typeface="Cambria"/>
              </a:rPr>
              <a:t>En Önemli Dağılımlar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45720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Araç Fiyatı (price_usd)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457200" y="1481328"/>
            <a:ext cx="3566160" cy="2816352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18_0.png" id="92" name="Google Shape;9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928" y="1591056"/>
            <a:ext cx="3346704" cy="259689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6"/>
          <p:cNvSpPr/>
          <p:nvPr/>
        </p:nvSpPr>
        <p:spPr>
          <a:xfrm>
            <a:off x="425196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Marka (brand)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4251960" y="1481328"/>
            <a:ext cx="3566160" cy="2816352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46_0.png" id="95" name="Google Shape;9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61688" y="1591056"/>
            <a:ext cx="3346704" cy="259689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6"/>
          <p:cNvSpPr/>
          <p:nvPr/>
        </p:nvSpPr>
        <p:spPr>
          <a:xfrm>
            <a:off x="804672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Pazar Segmenti (market_segment)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8046720" y="1481328"/>
            <a:ext cx="3566160" cy="2816352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58_0.png" id="98" name="Google Shape;98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56448" y="1591056"/>
            <a:ext cx="3346704" cy="2596896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6"/>
          <p:cNvSpPr/>
          <p:nvPr/>
        </p:nvSpPr>
        <p:spPr>
          <a:xfrm>
            <a:off x="457200" y="4572000"/>
            <a:ext cx="11247120" cy="1645920"/>
          </a:xfrm>
          <a:prstGeom prst="roundRect">
            <a:avLst>
              <a:gd fmla="val 5556" name="adj"/>
            </a:avLst>
          </a:prstGeom>
          <a:solidFill>
            <a:srgbClr val="E7EFFB"/>
          </a:solidFill>
          <a:ln>
            <a:noFill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694944" y="4809744"/>
            <a:ext cx="10771632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200"/>
              <a:buFont typeface="Calibri"/>
              <a:buChar char="●"/>
            </a:pPr>
            <a:r>
              <a:rPr b="0" i="0" lang="en-US" sz="120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Araç fiyatları sağa çarpık dağılmaktadır (Ø 78.874 $, medyan 73.013 $) ve 50.000–100.000 $ aralığında yoğunlaşmaktadır.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16234A"/>
              </a:buClr>
              <a:buSzPts val="1200"/>
              <a:buFont typeface="Calibri"/>
              <a:buChar char="●"/>
            </a:pPr>
            <a:r>
              <a:rPr b="0" i="0" lang="en-US" sz="120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Tesla 434 araçla en baskın marka; onu BYD (282) ve Volkswagen (194) izliyor — veri setinde toplam 20 marka var.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16234A"/>
              </a:buClr>
              <a:buSzPts val="1200"/>
              <a:buFont typeface="Calibri"/>
              <a:buChar char="●"/>
            </a:pPr>
            <a:r>
              <a:rPr b="0" i="0" lang="en-US" sz="120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Veri seti Premium (712) ve Mid-range (642) segmentlerinde yoğunlaşıyor; Budget segmenti 151 araçla en zayıf temsil edilen segment.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457200" y="6547104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Süha Çağrı Özbakışlar  ·  Elektrikli Araç Pazar Analizi (EDA)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10607040" y="654710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trending.png" id="109" name="Google Shape;10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/>
          <p:nvPr/>
        </p:nvSpPr>
        <p:spPr>
          <a:xfrm>
            <a:off x="1170432" y="3657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İKİLİ DEĞİŞKEN ANALİZİ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1170432" y="60350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16234A"/>
                </a:solidFill>
                <a:latin typeface="Cambria"/>
                <a:ea typeface="Cambria"/>
                <a:cs typeface="Cambria"/>
                <a:sym typeface="Cambria"/>
              </a:rPr>
              <a:t>İlişkiler &amp; Korelasyonlar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57200" y="1417320"/>
            <a:ext cx="6675120" cy="4846320"/>
          </a:xfrm>
          <a:prstGeom prst="roundRect">
            <a:avLst>
              <a:gd fmla="val 1509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61_0.png" id="113" name="Google Shape;11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928" y="1527048"/>
            <a:ext cx="6455664" cy="462686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7"/>
          <p:cNvSpPr/>
          <p:nvPr/>
        </p:nvSpPr>
        <p:spPr>
          <a:xfrm>
            <a:off x="7360920" y="1417320"/>
            <a:ext cx="4343400" cy="1463040"/>
          </a:xfrm>
          <a:prstGeom prst="roundRect">
            <a:avLst>
              <a:gd fmla="val 6250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7525512" y="1563624"/>
            <a:ext cx="40142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r = 0,978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7525512" y="2273850"/>
            <a:ext cx="4014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Batarya kapasitesi ↔ menzil (çok güçlü) — daha büyük batarya, daha fazla menzil.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7360920" y="3017520"/>
            <a:ext cx="4343400" cy="1463040"/>
          </a:xfrm>
          <a:prstGeom prst="roundRect">
            <a:avLst>
              <a:gd fmla="val 6250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7525512" y="3163824"/>
            <a:ext cx="40142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r = 0,765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7525512" y="3874050"/>
            <a:ext cx="4014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Motor gücü ↔ fiyat (güçlü) — fiyat yalnızca güçle açıklanamaz.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7360920" y="4617720"/>
            <a:ext cx="4343400" cy="1463040"/>
          </a:xfrm>
          <a:prstGeom prst="roundRect">
            <a:avLst>
              <a:gd fmla="val 6250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7525512" y="4764024"/>
            <a:ext cx="40142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r = 0,668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7525512" y="5474250"/>
            <a:ext cx="4014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Menzil ↔ müşteri puanı (orta güçlü) — daha fazla menzil, daha yüksek memnuniyet.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457200" y="6547104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Süha Çağrı Özbakışlar  ·  Elektrikli Araç Pazar Analizi (EDA)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10607040" y="654710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34A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award.png" id="132" name="Google Shape;13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8"/>
          <p:cNvSpPr/>
          <p:nvPr/>
        </p:nvSpPr>
        <p:spPr>
          <a:xfrm>
            <a:off x="1170432" y="43594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İş İçgörüleri &amp; Sonuç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691640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658368" y="1851660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zap.png" id="136" name="Google Shape;13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0042" y="198333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8"/>
          <p:cNvSpPr/>
          <p:nvPr/>
        </p:nvSpPr>
        <p:spPr>
          <a:xfrm>
            <a:off x="1389888" y="1773936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Menzilin En Güçlü Belirleyicisi: Batarya Kapasitesi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1389888" y="2112264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Çok güçlü bir ilişki (r = 0,978) — daha büyük batarya paketleri belirgin şekilde daha fazla menzil sağlar.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457200" y="2670048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658368" y="2830068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dollar.png" id="141" name="Google Shape;14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0042" y="296174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8"/>
          <p:cNvSpPr/>
          <p:nvPr/>
        </p:nvSpPr>
        <p:spPr>
          <a:xfrm>
            <a:off x="1389888" y="2752344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Fiyatı Bataryadan Daha Çok Motor Gücü Belirliyor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1389888" y="3090672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Fiyat ↔ güç ilişkisi (r = 0,765), fiyat ↔ batarya kapasitesi ilişkisinden (r = 0,164) çok daha güçlü.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457200" y="3648456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658368" y="3808476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trending.png" id="146" name="Google Shape;146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0042" y="3940150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8"/>
          <p:cNvSpPr/>
          <p:nvPr/>
        </p:nvSpPr>
        <p:spPr>
          <a:xfrm>
            <a:off x="1389888" y="3730752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Yüksek Fiyat Otomatik Olarak Yüksek Satış Anlamına Gelmiyor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1389888" y="4069080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Lucid fiyatta önde, ama satışta VW, Tesla ve Budget segmenti önde.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457200" y="4626864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658368" y="4786884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grid.png" id="151" name="Google Shape;151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0042" y="4918558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389888" y="4709160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Birden Fazla Faktör Birlikte Etkili Oluyor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1389888" y="5047488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Fiyat, memnuniyet ve satış yalnızca marka, segment ve teknik özelliklerin birlikte etkisiyle açıklanabiliyor.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57200" y="5678424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FB5C9"/>
                </a:solidFill>
                <a:latin typeface="Calibri"/>
                <a:ea typeface="Calibri"/>
                <a:cs typeface="Calibri"/>
                <a:sym typeface="Calibri"/>
              </a:rPr>
              <a:t>Sonuç: Veri seti eksiksiz ve tutarlıdır; tahmine dayalı modelleme ve iş zekâsı uygulamaları için sağlam bir temel oluşturur.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Hazırlayan:  Süha Çağrı Özbakışlar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