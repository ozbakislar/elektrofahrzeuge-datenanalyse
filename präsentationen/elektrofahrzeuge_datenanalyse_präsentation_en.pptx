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34A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1F35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-1828800" y="4572000"/>
            <a:ext cx="3840480" cy="3840480"/>
          </a:xfrm>
          <a:prstGeom prst="ellipse">
            <a:avLst/>
          </a:prstGeom>
          <a:solidFill>
            <a:srgbClr val="1F35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ages/icon_zap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8" y="963778"/>
            <a:ext cx="404165" cy="40416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822960" y="214884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B5C9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777240" y="251460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Electric Vehicles (EV)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822960" y="361188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Technical and commercial performance data of EV models · 2020 – 2026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822960" y="4434840"/>
            <a:ext cx="2103120" cy="1005840"/>
          </a:xfrm>
          <a:prstGeom prst="roundRect">
            <a:avLst>
              <a:gd fmla="val 7273" name="adj"/>
            </a:avLst>
          </a:prstGeom>
          <a:solidFill>
            <a:srgbClr val="1F35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822960" y="45262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2,000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22960" y="50292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Observations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3154680" y="4434840"/>
            <a:ext cx="2103120" cy="1005840"/>
          </a:xfrm>
          <a:prstGeom prst="roundRect">
            <a:avLst>
              <a:gd fmla="val 7273" name="adj"/>
            </a:avLst>
          </a:prstGeom>
          <a:solidFill>
            <a:srgbClr val="1F35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154680" y="45262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154680" y="50292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Columns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0" y="4434840"/>
            <a:ext cx="2103120" cy="1005840"/>
          </a:xfrm>
          <a:prstGeom prst="roundRect">
            <a:avLst>
              <a:gd fmla="val 7273" name="adj"/>
            </a:avLst>
          </a:prstGeom>
          <a:solidFill>
            <a:srgbClr val="1F35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486400" y="45262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0" y="50292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Brands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818120" y="4434840"/>
            <a:ext cx="2103120" cy="1005840"/>
          </a:xfrm>
          <a:prstGeom prst="roundRect">
            <a:avLst>
              <a:gd fmla="val 7273" name="adj"/>
            </a:avLst>
          </a:prstGeom>
          <a:solidFill>
            <a:srgbClr val="1F35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7818120" y="452628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818120" y="50292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Countries of Origin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Created by:  Süha Çağrı Özbakışlar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ages/icon_database.png" id="43" name="Google Shape;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63" y="52011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>
            <a:off x="1170432" y="365760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1170432" y="603504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16234A"/>
                </a:solidFill>
                <a:latin typeface="Cambria"/>
                <a:ea typeface="Cambria"/>
                <a:cs typeface="Cambria"/>
                <a:sym typeface="Cambria"/>
              </a:rPr>
              <a:t>Dataset Overview &amp; Data Quality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57200" y="1417320"/>
            <a:ext cx="2606040" cy="1097280"/>
          </a:xfrm>
          <a:prstGeom prst="roundRect">
            <a:avLst>
              <a:gd fmla="val 8333" name="adj"/>
            </a:avLst>
          </a:prstGeom>
          <a:solidFill>
            <a:srgbClr val="16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621792" y="1563624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2200"/>
              <a:buFont typeface="Cambria"/>
              <a:buNone/>
            </a:pPr>
            <a:r>
              <a:rPr b="1" i="0" lang="en-US" sz="3000" u="none" cap="none" strike="noStrik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2,000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21792" y="2047749"/>
            <a:ext cx="2277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3200400" y="1417320"/>
            <a:ext cx="2606040" cy="1097280"/>
          </a:xfrm>
          <a:prstGeom prst="roundRect">
            <a:avLst>
              <a:gd fmla="val 8333" name="adj"/>
            </a:avLst>
          </a:prstGeom>
          <a:solidFill>
            <a:srgbClr val="16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3364992" y="1563624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24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3364992" y="2047749"/>
            <a:ext cx="2277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943600" y="1417320"/>
            <a:ext cx="2606040" cy="1097280"/>
          </a:xfrm>
          <a:prstGeom prst="roundRect">
            <a:avLst>
              <a:gd fmla="val 8333" name="adj"/>
            </a:avLst>
          </a:prstGeom>
          <a:solidFill>
            <a:srgbClr val="16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108192" y="1563624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20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108192" y="2047749"/>
            <a:ext cx="2277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Brands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8686800" y="1417320"/>
            <a:ext cx="2606040" cy="1097280"/>
          </a:xfrm>
          <a:prstGeom prst="roundRect">
            <a:avLst>
              <a:gd fmla="val 8333" name="adj"/>
            </a:avLst>
          </a:prstGeom>
          <a:solidFill>
            <a:srgbClr val="16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8851392" y="1563624"/>
            <a:ext cx="22768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8851392" y="2047749"/>
            <a:ext cx="2277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Missing Values / Duplicates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26700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Countries of Origin of the Brands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57200" y="2999232"/>
            <a:ext cx="6035040" cy="370332"/>
          </a:xfrm>
          <a:prstGeom prst="roundRect">
            <a:avLst>
              <a:gd fmla="val 14815" name="adj"/>
            </a:avLst>
          </a:prstGeom>
          <a:solidFill>
            <a:srgbClr val="E7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603504" y="2999232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Germany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103120" y="2999232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Audi, BMW, Mercedes, Porsche, Volkswagen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3442716"/>
            <a:ext cx="6035040" cy="370332"/>
          </a:xfrm>
          <a:prstGeom prst="roundRect">
            <a:avLst>
              <a:gd fmla="val 14815" name="adj"/>
            </a:avLst>
          </a:prstGeom>
          <a:solidFill>
            <a:srgbClr val="E7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03504" y="3442716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USA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103120" y="3442716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Fisker, Ford, GM/Chevrolet, Lucid, Rivian, Tesla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57200" y="3886200"/>
            <a:ext cx="6035040" cy="370332"/>
          </a:xfrm>
          <a:prstGeom prst="roundRect">
            <a:avLst>
              <a:gd fmla="val 14815" name="adj"/>
            </a:avLst>
          </a:prstGeom>
          <a:solidFill>
            <a:srgbClr val="E7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03504" y="3886200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Japan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103120" y="3886200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Honda, Toyota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57200" y="4329684"/>
            <a:ext cx="6035040" cy="370332"/>
          </a:xfrm>
          <a:prstGeom prst="roundRect">
            <a:avLst>
              <a:gd fmla="val 14815" name="adj"/>
            </a:avLst>
          </a:prstGeom>
          <a:solidFill>
            <a:srgbClr val="E7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03504" y="4329684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South Korea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103120" y="4329684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Hyundai, Kia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" y="4773168"/>
            <a:ext cx="6035040" cy="370332"/>
          </a:xfrm>
          <a:prstGeom prst="roundRect">
            <a:avLst>
              <a:gd fmla="val 14815" name="adj"/>
            </a:avLst>
          </a:prstGeom>
          <a:solidFill>
            <a:srgbClr val="E7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03504" y="4773168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China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103120" y="4773168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BYD, NIO, Xiaomi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57200" y="5216652"/>
            <a:ext cx="6035040" cy="370332"/>
          </a:xfrm>
          <a:prstGeom prst="roundRect">
            <a:avLst>
              <a:gd fmla="val 14815" name="adj"/>
            </a:avLst>
          </a:prstGeom>
          <a:solidFill>
            <a:srgbClr val="E7EF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03504" y="5216652"/>
            <a:ext cx="1554480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Sweden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2103120" y="5216652"/>
            <a:ext cx="4297680" cy="37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Polestar, Volvo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720840" y="2670048"/>
            <a:ext cx="4983480" cy="3593592"/>
          </a:xfrm>
          <a:prstGeom prst="roundRect">
            <a:avLst>
              <a:gd fmla="val 2545" name="adj"/>
            </a:avLst>
          </a:prstGeom>
          <a:solidFill>
            <a:srgbClr val="E7EFFB"/>
          </a:solidFill>
          <a:ln>
            <a:noFill/>
          </a:ln>
          <a:effectLst>
            <a:outerShdw blurRad="76200" rotWithShape="0" algn="bl" dir="5400000" dist="25400">
              <a:srgbClr val="16234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995160" y="2944368"/>
            <a:ext cx="4434840" cy="3044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Each row represents one brand’s model for a given year and variant (base, standard, long range, premium, performance).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16234A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13 numerical and 7 categorical variables cover technical features (battery, range, power) and commercial metrics (price, sales, rating).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16234A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No missing values and no duplicates across all 24 columns — a complete, consistent dataset.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16234A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A solid foundation for the exploratory analysis of the global EV market.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Süha Çağrı Özbakışlar  ·  Electric Vehicle Market Analysis (EDA)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ages/icon_barchart.png" id="87" name="Google Shape;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63" y="52011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1170432" y="365760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NUMERICAL &amp; CATEGORICAL VARIABLES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170432" y="603504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16234A"/>
                </a:solidFill>
                <a:latin typeface="Cambria"/>
                <a:ea typeface="Cambria"/>
                <a:cs typeface="Cambria"/>
                <a:sym typeface="Cambria"/>
              </a:rPr>
              <a:t>Key Distributions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118872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Vehicle Price (price_usd)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57200" y="1481328"/>
            <a:ext cx="3566160" cy="2816352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D9E2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6234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ages/cell18_0.png" id="92" name="Google Shape;9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591056"/>
            <a:ext cx="3346704" cy="259689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4251960" y="118872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Brand (brand)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251960" y="1481328"/>
            <a:ext cx="3566160" cy="2816352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D9E2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6234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ages/cell46_0.png" id="95" name="Google Shape;9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1688" y="1591056"/>
            <a:ext cx="3346704" cy="259689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8046720" y="1188720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Market Segment (market_segment)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8046720" y="1481328"/>
            <a:ext cx="3566160" cy="2816352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D9E2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6234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ages/cell58_0.png" id="98" name="Google Shape;9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6448" y="1591056"/>
            <a:ext cx="3346704" cy="259689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457200" y="4572000"/>
            <a:ext cx="11247120" cy="1645920"/>
          </a:xfrm>
          <a:prstGeom prst="roundRect">
            <a:avLst>
              <a:gd fmla="val 5556" name="adj"/>
            </a:avLst>
          </a:prstGeom>
          <a:solidFill>
            <a:srgbClr val="E7EFFB"/>
          </a:solidFill>
          <a:ln>
            <a:noFill/>
          </a:ln>
          <a:effectLst>
            <a:outerShdw blurRad="76200" rotWithShape="0" algn="bl" dir="5400000" dist="25400">
              <a:srgbClr val="16234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94944" y="4809744"/>
            <a:ext cx="10771632" cy="11704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Vehicle prices are right-skewed (avg. $78,874, median $73,013) and concentrated in the $50,000–100,000 range.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16234A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Tesla dominates with 434 vehicles, followed by BYD (282) and Volkswagen (194) — 20 brands in total.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rgbClr val="16234A"/>
              </a:buClr>
              <a:buSzPts val="1200"/>
              <a:buFont typeface="Calibri"/>
              <a:buChar char="●"/>
            </a:pPr>
            <a:r>
              <a:rPr b="0" i="0" lang="en-US" sz="1200" u="none" cap="none" strike="noStrike">
                <a:solidFill>
                  <a:srgbClr val="16234A"/>
                </a:solidFill>
                <a:latin typeface="Calibri"/>
                <a:ea typeface="Calibri"/>
                <a:cs typeface="Calibri"/>
                <a:sym typeface="Calibri"/>
              </a:rPr>
              <a:t>The dataset is concentrated in the Premium (712) and Mid-range (642) segments; Budget is the smallest with 151.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Süha Çağrı Özbakışlar  ·  Electric Vehicle Market Analysis (EDA)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ages/icon_trending.png" id="109" name="Google Shape;10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63" y="52011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/>
          <p:nvPr/>
        </p:nvSpPr>
        <p:spPr>
          <a:xfrm>
            <a:off x="1170432" y="365760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6F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F6FED"/>
                </a:solidFill>
                <a:latin typeface="Calibri"/>
                <a:ea typeface="Calibri"/>
                <a:cs typeface="Calibri"/>
                <a:sym typeface="Calibri"/>
              </a:rPr>
              <a:t>BIVARIATE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170432" y="603504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4A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16234A"/>
                </a:solidFill>
                <a:latin typeface="Cambria"/>
                <a:ea typeface="Cambria"/>
                <a:cs typeface="Cambria"/>
                <a:sym typeface="Cambria"/>
              </a:rPr>
              <a:t>Relationships &amp; Correlations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57200" y="1417320"/>
            <a:ext cx="6675120" cy="4846320"/>
          </a:xfrm>
          <a:prstGeom prst="roundRect">
            <a:avLst>
              <a:gd fmla="val 1509" name="adj"/>
            </a:avLst>
          </a:prstGeom>
          <a:solidFill>
            <a:srgbClr val="FFFFFF"/>
          </a:solidFill>
          <a:ln cap="flat" cmpd="sng" w="12700">
            <a:solidFill>
              <a:srgbClr val="D9E2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6234A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ages/cell61_0.png" id="113" name="Google Shape;11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527048"/>
            <a:ext cx="6455664" cy="462686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"/>
          <p:cNvSpPr/>
          <p:nvPr/>
        </p:nvSpPr>
        <p:spPr>
          <a:xfrm>
            <a:off x="7360920" y="1417320"/>
            <a:ext cx="4343400" cy="1463040"/>
          </a:xfrm>
          <a:prstGeom prst="roundRect">
            <a:avLst>
              <a:gd fmla="val 6250" name="adj"/>
            </a:avLst>
          </a:prstGeom>
          <a:solidFill>
            <a:srgbClr val="16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7525512" y="1563624"/>
            <a:ext cx="40142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r = 0.978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7525512" y="2273850"/>
            <a:ext cx="40143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Battery capacity ↔ range (very strong) — bigger battery, more range.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360920" y="3017520"/>
            <a:ext cx="4343400" cy="1463040"/>
          </a:xfrm>
          <a:prstGeom prst="roundRect">
            <a:avLst>
              <a:gd fmla="val 6250" name="adj"/>
            </a:avLst>
          </a:prstGeom>
          <a:solidFill>
            <a:srgbClr val="16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7525512" y="3163824"/>
            <a:ext cx="40142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r = 0.765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7525512" y="3874050"/>
            <a:ext cx="40143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Horsepower ↔ price (strong) — price is not explained by power alone.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360920" y="4617720"/>
            <a:ext cx="4343400" cy="1463040"/>
          </a:xfrm>
          <a:prstGeom prst="roundRect">
            <a:avLst>
              <a:gd fmla="val 6250" name="adj"/>
            </a:avLst>
          </a:prstGeom>
          <a:solidFill>
            <a:srgbClr val="162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7525512" y="4764024"/>
            <a:ext cx="40142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FB5C9"/>
                </a:solidFill>
                <a:latin typeface="Cambria"/>
                <a:ea typeface="Cambria"/>
                <a:cs typeface="Cambria"/>
                <a:sym typeface="Cambria"/>
              </a:rPr>
              <a:t>r = 0.668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525512" y="5474250"/>
            <a:ext cx="40143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Range ↔ customer rating (moderate) — more range, higher satisfaction.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Süha Çağrı Özbakışlar  ·  Electric Vehicle Market Analysis (EDA)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0607040" y="654710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234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1F35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ages/icon_award.png" id="132" name="Google Shape;13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263" y="520111"/>
            <a:ext cx="294803" cy="29480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8"/>
          <p:cNvSpPr/>
          <p:nvPr/>
        </p:nvSpPr>
        <p:spPr>
          <a:xfrm>
            <a:off x="1170432" y="435944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Business Insights &amp; Conclusion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57200" y="1691640"/>
            <a:ext cx="11247120" cy="868680"/>
          </a:xfrm>
          <a:prstGeom prst="roundRect">
            <a:avLst>
              <a:gd fmla="val 8421" name="adj"/>
            </a:avLst>
          </a:prstGeom>
          <a:solidFill>
            <a:srgbClr val="1F35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658368" y="1851660"/>
            <a:ext cx="548640" cy="5486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ages/icon_zap.png" id="136" name="Google Shape;13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042" y="198333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8"/>
          <p:cNvSpPr/>
          <p:nvPr/>
        </p:nvSpPr>
        <p:spPr>
          <a:xfrm>
            <a:off x="1389888" y="1773936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Battery Capacity as the Strongest Range Driver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389888" y="2112264"/>
            <a:ext cx="99669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Very strong relationship (r = 0.978) — bigger battery packs mean significantly more range.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57200" y="2670048"/>
            <a:ext cx="11247120" cy="868680"/>
          </a:xfrm>
          <a:prstGeom prst="roundRect">
            <a:avLst>
              <a:gd fmla="val 8421" name="adj"/>
            </a:avLst>
          </a:prstGeom>
          <a:solidFill>
            <a:srgbClr val="1F35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658368" y="2830068"/>
            <a:ext cx="548640" cy="5486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ages/icon_dollar.png" id="141" name="Google Shape;14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042" y="296174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/>
          <p:nvPr/>
        </p:nvSpPr>
        <p:spPr>
          <a:xfrm>
            <a:off x="1389888" y="2752344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Shapes Price More Than the Battery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1389888" y="3090672"/>
            <a:ext cx="99669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Price ↔ power (r = 0.765) is much stronger than price ↔ battery capacity (r = 0.164).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57200" y="3648456"/>
            <a:ext cx="11247120" cy="868680"/>
          </a:xfrm>
          <a:prstGeom prst="roundRect">
            <a:avLst>
              <a:gd fmla="val 8421" name="adj"/>
            </a:avLst>
          </a:prstGeom>
          <a:solidFill>
            <a:srgbClr val="1F35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658368" y="3808476"/>
            <a:ext cx="548640" cy="5486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ages/icon_trending.png" id="146" name="Google Shape;14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0042" y="3940150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>
            <a:off x="1389888" y="3730752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High Price Does Not Automatically Mean High Sales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389888" y="4069080"/>
            <a:ext cx="99669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Lucid leads on price, but VW, Tesla and the Budget segment lead on sales.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4626864"/>
            <a:ext cx="11247120" cy="868680"/>
          </a:xfrm>
          <a:prstGeom prst="roundRect">
            <a:avLst>
              <a:gd fmla="val 8421" name="adj"/>
            </a:avLst>
          </a:prstGeom>
          <a:solidFill>
            <a:srgbClr val="1F35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658368" y="4786884"/>
            <a:ext cx="548640" cy="54864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ages/icon_grid.png" id="151" name="Google Shape;15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042" y="4918558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/>
          <p:nvPr/>
        </p:nvSpPr>
        <p:spPr>
          <a:xfrm>
            <a:off x="1389888" y="4709160"/>
            <a:ext cx="9966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Multiple Factors Work Together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1389888" y="5047488"/>
            <a:ext cx="99669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FC3E8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AFC3E8"/>
                </a:solidFill>
                <a:latin typeface="Calibri"/>
                <a:ea typeface="Calibri"/>
                <a:cs typeface="Calibri"/>
                <a:sym typeface="Calibri"/>
              </a:rPr>
              <a:t>Price, satisfaction and sales can only be explained by the interplay of brand, segment and technology.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5678424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B5C9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0FB5C9"/>
                </a:solidFill>
                <a:latin typeface="Calibri"/>
                <a:ea typeface="Calibri"/>
                <a:cs typeface="Calibri"/>
                <a:sym typeface="Calibri"/>
              </a:rPr>
              <a:t>Conclusion: The dataset is complete, consistent and forms a solid foundation for predictive modeling and business intelligence applications.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Created by:  Süha Çağrı Özbakışlar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