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" name="Google Shape;14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" name="Google Shape;15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" name="Google Shape;39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" name="Google Shape;83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" name="Google Shape;12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rgbClr val="FFFFF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13.png"/><Relationship Id="rId6" Type="http://schemas.openxmlformats.org/officeDocument/2006/relationships/image" Target="../media/image11.png"/><Relationship Id="rId7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6234A"/>
        </a:solid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/>
          <p:nvPr/>
        </p:nvSpPr>
        <p:spPr>
          <a:xfrm>
            <a:off x="9692640" y="-1463040"/>
            <a:ext cx="5029200" cy="5029200"/>
          </a:xfrm>
          <a:prstGeom prst="ellipse">
            <a:avLst/>
          </a:prstGeom>
          <a:solidFill>
            <a:srgbClr val="1F356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4"/>
          <p:cNvSpPr/>
          <p:nvPr/>
        </p:nvSpPr>
        <p:spPr>
          <a:xfrm>
            <a:off x="-1828800" y="4572000"/>
            <a:ext cx="3840480" cy="3840480"/>
          </a:xfrm>
          <a:prstGeom prst="ellipse">
            <a:avLst/>
          </a:prstGeom>
          <a:solidFill>
            <a:srgbClr val="1F356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4"/>
          <p:cNvSpPr/>
          <p:nvPr/>
        </p:nvSpPr>
        <p:spPr>
          <a:xfrm>
            <a:off x="822960" y="777240"/>
            <a:ext cx="777240" cy="777240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images/icon_zap.png" id="20" name="Google Shape;20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9498" y="963778"/>
            <a:ext cx="404165" cy="404165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4"/>
          <p:cNvSpPr/>
          <p:nvPr/>
        </p:nvSpPr>
        <p:spPr>
          <a:xfrm>
            <a:off x="822960" y="2148840"/>
            <a:ext cx="9601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B5C9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FB5C9"/>
                </a:solidFill>
                <a:latin typeface="Calibri"/>
                <a:ea typeface="Calibri"/>
                <a:cs typeface="Calibri"/>
                <a:sym typeface="Calibri"/>
              </a:rPr>
              <a:t>EXPLORATIVE DATENANALYSE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4"/>
          <p:cNvSpPr/>
          <p:nvPr/>
        </p:nvSpPr>
        <p:spPr>
          <a:xfrm>
            <a:off x="777240" y="2514600"/>
            <a:ext cx="105156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Cambria"/>
              <a:buNone/>
            </a:pPr>
            <a:r>
              <a:rPr b="1" i="0" lang="en-US" sz="48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Elektrofahrzeuge (EV)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4"/>
          <p:cNvSpPr/>
          <p:nvPr/>
        </p:nvSpPr>
        <p:spPr>
          <a:xfrm>
            <a:off x="822960" y="3611880"/>
            <a:ext cx="9875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FC3E8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AFC3E8"/>
                </a:solidFill>
                <a:latin typeface="Calibri"/>
                <a:ea typeface="Calibri"/>
                <a:cs typeface="Calibri"/>
                <a:sym typeface="Calibri"/>
              </a:rPr>
              <a:t>Technische und kommerzielle Leistungsdaten von EV-Modellen · 2020 – 2026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822960" y="4434840"/>
            <a:ext cx="2103120" cy="1005840"/>
          </a:xfrm>
          <a:prstGeom prst="roundRect">
            <a:avLst>
              <a:gd fmla="val 7273" name="adj"/>
            </a:avLst>
          </a:prstGeom>
          <a:solidFill>
            <a:srgbClr val="1F356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4"/>
          <p:cNvSpPr/>
          <p:nvPr/>
        </p:nvSpPr>
        <p:spPr>
          <a:xfrm>
            <a:off x="822960" y="4526280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mbria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2.000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/>
          <p:nvPr/>
        </p:nvSpPr>
        <p:spPr>
          <a:xfrm>
            <a:off x="822960" y="5029200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FC3E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FC3E8"/>
                </a:solidFill>
                <a:latin typeface="Calibri"/>
                <a:ea typeface="Calibri"/>
                <a:cs typeface="Calibri"/>
                <a:sym typeface="Calibri"/>
              </a:rPr>
              <a:t>Beobachtungen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4"/>
          <p:cNvSpPr/>
          <p:nvPr/>
        </p:nvSpPr>
        <p:spPr>
          <a:xfrm>
            <a:off x="3154680" y="4434840"/>
            <a:ext cx="2103120" cy="1005840"/>
          </a:xfrm>
          <a:prstGeom prst="roundRect">
            <a:avLst>
              <a:gd fmla="val 7273" name="adj"/>
            </a:avLst>
          </a:prstGeom>
          <a:solidFill>
            <a:srgbClr val="1F356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4"/>
          <p:cNvSpPr/>
          <p:nvPr/>
        </p:nvSpPr>
        <p:spPr>
          <a:xfrm>
            <a:off x="3154680" y="4526280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mbria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24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3154680" y="5029200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FC3E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FC3E8"/>
                </a:solidFill>
                <a:latin typeface="Calibri"/>
                <a:ea typeface="Calibri"/>
                <a:cs typeface="Calibri"/>
                <a:sym typeface="Calibri"/>
              </a:rPr>
              <a:t>Spalten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5486400" y="4434840"/>
            <a:ext cx="2103120" cy="1005840"/>
          </a:xfrm>
          <a:prstGeom prst="roundRect">
            <a:avLst>
              <a:gd fmla="val 7273" name="adj"/>
            </a:avLst>
          </a:prstGeom>
          <a:solidFill>
            <a:srgbClr val="1F356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5486400" y="4526280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mbria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20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4"/>
          <p:cNvSpPr/>
          <p:nvPr/>
        </p:nvSpPr>
        <p:spPr>
          <a:xfrm>
            <a:off x="5486400" y="5029200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FC3E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FC3E8"/>
                </a:solidFill>
                <a:latin typeface="Calibri"/>
                <a:ea typeface="Calibri"/>
                <a:cs typeface="Calibri"/>
                <a:sym typeface="Calibri"/>
              </a:rPr>
              <a:t>Marken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/>
          <p:nvPr/>
        </p:nvSpPr>
        <p:spPr>
          <a:xfrm>
            <a:off x="7818120" y="4434840"/>
            <a:ext cx="2103120" cy="1005840"/>
          </a:xfrm>
          <a:prstGeom prst="roundRect">
            <a:avLst>
              <a:gd fmla="val 7273" name="adj"/>
            </a:avLst>
          </a:prstGeom>
          <a:solidFill>
            <a:srgbClr val="1F356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4"/>
          <p:cNvSpPr/>
          <p:nvPr/>
        </p:nvSpPr>
        <p:spPr>
          <a:xfrm>
            <a:off x="7818120" y="4526280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mbria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6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7818120" y="5029200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FC3E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FC3E8"/>
                </a:solidFill>
                <a:latin typeface="Calibri"/>
                <a:ea typeface="Calibri"/>
                <a:cs typeface="Calibri"/>
                <a:sym typeface="Calibri"/>
              </a:rPr>
              <a:t>Herkunftsländer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822960" y="62636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Erstellt von:  Süha Çağrı Özbakışlar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5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images/icon_database.png" id="43" name="Google Shape;43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3263" y="520111"/>
            <a:ext cx="294803" cy="294803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5"/>
          <p:cNvSpPr/>
          <p:nvPr/>
        </p:nvSpPr>
        <p:spPr>
          <a:xfrm>
            <a:off x="1170432" y="365760"/>
            <a:ext cx="9601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6FED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F6FED"/>
                </a:solidFill>
                <a:latin typeface="Calibri"/>
                <a:ea typeface="Calibri"/>
                <a:cs typeface="Calibri"/>
                <a:sym typeface="Calibri"/>
              </a:rPr>
              <a:t>DATENSATZ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5"/>
          <p:cNvSpPr/>
          <p:nvPr/>
        </p:nvSpPr>
        <p:spPr>
          <a:xfrm>
            <a:off x="1170432" y="603504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34A"/>
              </a:buClr>
              <a:buSzPts val="2500"/>
              <a:buFont typeface="Cambria"/>
              <a:buNone/>
            </a:pPr>
            <a:r>
              <a:rPr b="1" i="0" lang="en-US" sz="2500" u="none" cap="none" strike="noStrike">
                <a:solidFill>
                  <a:srgbClr val="16234A"/>
                </a:solidFill>
                <a:latin typeface="Cambria"/>
                <a:ea typeface="Cambria"/>
                <a:cs typeface="Cambria"/>
                <a:sym typeface="Cambria"/>
              </a:rPr>
              <a:t>Datensatz-Überblick &amp; Datenqualität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5"/>
          <p:cNvSpPr/>
          <p:nvPr/>
        </p:nvSpPr>
        <p:spPr>
          <a:xfrm>
            <a:off x="457200" y="1417320"/>
            <a:ext cx="2606040" cy="1097280"/>
          </a:xfrm>
          <a:prstGeom prst="roundRect">
            <a:avLst>
              <a:gd fmla="val 8333" name="adj"/>
            </a:avLst>
          </a:prstGeom>
          <a:solidFill>
            <a:srgbClr val="1623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5"/>
          <p:cNvSpPr/>
          <p:nvPr/>
        </p:nvSpPr>
        <p:spPr>
          <a:xfrm>
            <a:off x="621792" y="1563624"/>
            <a:ext cx="2276856" cy="5486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B5C9"/>
              </a:buClr>
              <a:buSzPts val="2200"/>
              <a:buFont typeface="Cambria"/>
              <a:buNone/>
            </a:pPr>
            <a:r>
              <a:rPr b="1" i="0" lang="en-US" sz="3000" u="none" cap="none" strike="noStrike">
                <a:solidFill>
                  <a:srgbClr val="0FB5C9"/>
                </a:solidFill>
                <a:latin typeface="Cambria"/>
                <a:ea typeface="Cambria"/>
                <a:cs typeface="Cambria"/>
                <a:sym typeface="Cambria"/>
              </a:rPr>
              <a:t>2.000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"/>
          <p:cNvSpPr/>
          <p:nvPr/>
        </p:nvSpPr>
        <p:spPr>
          <a:xfrm>
            <a:off x="621792" y="2047749"/>
            <a:ext cx="2277000" cy="48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Beobachtungen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5"/>
          <p:cNvSpPr/>
          <p:nvPr/>
        </p:nvSpPr>
        <p:spPr>
          <a:xfrm>
            <a:off x="3200400" y="1417320"/>
            <a:ext cx="2606040" cy="1097280"/>
          </a:xfrm>
          <a:prstGeom prst="roundRect">
            <a:avLst>
              <a:gd fmla="val 8333" name="adj"/>
            </a:avLst>
          </a:prstGeom>
          <a:solidFill>
            <a:srgbClr val="1623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5"/>
          <p:cNvSpPr/>
          <p:nvPr/>
        </p:nvSpPr>
        <p:spPr>
          <a:xfrm>
            <a:off x="3364992" y="1563624"/>
            <a:ext cx="2276856" cy="5486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B5C9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0FB5C9"/>
                </a:solidFill>
                <a:latin typeface="Cambria"/>
                <a:ea typeface="Cambria"/>
                <a:cs typeface="Cambria"/>
                <a:sym typeface="Cambria"/>
              </a:rPr>
              <a:t>24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5"/>
          <p:cNvSpPr/>
          <p:nvPr/>
        </p:nvSpPr>
        <p:spPr>
          <a:xfrm>
            <a:off x="3364992" y="2047749"/>
            <a:ext cx="2277000" cy="48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Spalten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5"/>
          <p:cNvSpPr/>
          <p:nvPr/>
        </p:nvSpPr>
        <p:spPr>
          <a:xfrm>
            <a:off x="5943600" y="1417320"/>
            <a:ext cx="2606040" cy="1097280"/>
          </a:xfrm>
          <a:prstGeom prst="roundRect">
            <a:avLst>
              <a:gd fmla="val 8333" name="adj"/>
            </a:avLst>
          </a:prstGeom>
          <a:solidFill>
            <a:srgbClr val="1623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5"/>
          <p:cNvSpPr/>
          <p:nvPr/>
        </p:nvSpPr>
        <p:spPr>
          <a:xfrm>
            <a:off x="6108192" y="1563624"/>
            <a:ext cx="2276856" cy="5486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B5C9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0FB5C9"/>
                </a:solidFill>
                <a:latin typeface="Cambria"/>
                <a:ea typeface="Cambria"/>
                <a:cs typeface="Cambria"/>
                <a:sym typeface="Cambria"/>
              </a:rPr>
              <a:t>20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5"/>
          <p:cNvSpPr/>
          <p:nvPr/>
        </p:nvSpPr>
        <p:spPr>
          <a:xfrm>
            <a:off x="6108192" y="2047749"/>
            <a:ext cx="2277000" cy="48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Marken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5"/>
          <p:cNvSpPr/>
          <p:nvPr/>
        </p:nvSpPr>
        <p:spPr>
          <a:xfrm>
            <a:off x="8686800" y="1417320"/>
            <a:ext cx="2606040" cy="1097280"/>
          </a:xfrm>
          <a:prstGeom prst="roundRect">
            <a:avLst>
              <a:gd fmla="val 8333" name="adj"/>
            </a:avLst>
          </a:prstGeom>
          <a:solidFill>
            <a:srgbClr val="1623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5"/>
          <p:cNvSpPr/>
          <p:nvPr/>
        </p:nvSpPr>
        <p:spPr>
          <a:xfrm>
            <a:off x="8851392" y="1563624"/>
            <a:ext cx="2276856" cy="5486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B5C9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0FB5C9"/>
                </a:solidFill>
                <a:latin typeface="Cambria"/>
                <a:ea typeface="Cambria"/>
                <a:cs typeface="Cambria"/>
                <a:sym typeface="Cambria"/>
              </a:rPr>
              <a:t>0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5"/>
          <p:cNvSpPr/>
          <p:nvPr/>
        </p:nvSpPr>
        <p:spPr>
          <a:xfrm>
            <a:off x="8851392" y="2047749"/>
            <a:ext cx="2277000" cy="48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Fehlende Werte / Duplikate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457200" y="267004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34A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6234A"/>
                </a:solidFill>
                <a:latin typeface="Calibri"/>
                <a:ea typeface="Calibri"/>
                <a:cs typeface="Calibri"/>
                <a:sym typeface="Calibri"/>
              </a:rPr>
              <a:t>Herkunftsländer der Marken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5"/>
          <p:cNvSpPr/>
          <p:nvPr/>
        </p:nvSpPr>
        <p:spPr>
          <a:xfrm>
            <a:off x="457200" y="2999232"/>
            <a:ext cx="6035040" cy="370332"/>
          </a:xfrm>
          <a:prstGeom prst="roundRect">
            <a:avLst>
              <a:gd fmla="val 14815" name="adj"/>
            </a:avLst>
          </a:prstGeom>
          <a:solidFill>
            <a:srgbClr val="E7EF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5"/>
          <p:cNvSpPr/>
          <p:nvPr/>
        </p:nvSpPr>
        <p:spPr>
          <a:xfrm>
            <a:off x="603504" y="2999232"/>
            <a:ext cx="1554480" cy="3703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6FED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2F6FED"/>
                </a:solidFill>
                <a:latin typeface="Calibri"/>
                <a:ea typeface="Calibri"/>
                <a:cs typeface="Calibri"/>
                <a:sym typeface="Calibri"/>
              </a:rPr>
              <a:t>Deutschland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5"/>
          <p:cNvSpPr/>
          <p:nvPr/>
        </p:nvSpPr>
        <p:spPr>
          <a:xfrm>
            <a:off x="2103120" y="2999232"/>
            <a:ext cx="4297680" cy="3703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34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6234A"/>
                </a:solidFill>
                <a:latin typeface="Calibri"/>
                <a:ea typeface="Calibri"/>
                <a:cs typeface="Calibri"/>
                <a:sym typeface="Calibri"/>
              </a:rPr>
              <a:t>Audi, BMW, Mercedes, Porsche, Volkswagen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"/>
          <p:cNvSpPr/>
          <p:nvPr/>
        </p:nvSpPr>
        <p:spPr>
          <a:xfrm>
            <a:off x="457200" y="3442716"/>
            <a:ext cx="6035040" cy="370332"/>
          </a:xfrm>
          <a:prstGeom prst="roundRect">
            <a:avLst>
              <a:gd fmla="val 14815" name="adj"/>
            </a:avLst>
          </a:prstGeom>
          <a:solidFill>
            <a:srgbClr val="E7EF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5"/>
          <p:cNvSpPr/>
          <p:nvPr/>
        </p:nvSpPr>
        <p:spPr>
          <a:xfrm>
            <a:off x="603504" y="3442716"/>
            <a:ext cx="1554480" cy="3703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6FED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2F6FED"/>
                </a:solidFill>
                <a:latin typeface="Calibri"/>
                <a:ea typeface="Calibri"/>
                <a:cs typeface="Calibri"/>
                <a:sym typeface="Calibri"/>
              </a:rPr>
              <a:t>USA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5"/>
          <p:cNvSpPr/>
          <p:nvPr/>
        </p:nvSpPr>
        <p:spPr>
          <a:xfrm>
            <a:off x="2103120" y="3442716"/>
            <a:ext cx="4297680" cy="3703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34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6234A"/>
                </a:solidFill>
                <a:latin typeface="Calibri"/>
                <a:ea typeface="Calibri"/>
                <a:cs typeface="Calibri"/>
                <a:sym typeface="Calibri"/>
              </a:rPr>
              <a:t>Fisker, Ford, GM/Chevrolet, Lucid, Rivian, Tesla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5"/>
          <p:cNvSpPr/>
          <p:nvPr/>
        </p:nvSpPr>
        <p:spPr>
          <a:xfrm>
            <a:off x="457200" y="3886200"/>
            <a:ext cx="6035040" cy="370332"/>
          </a:xfrm>
          <a:prstGeom prst="roundRect">
            <a:avLst>
              <a:gd fmla="val 14815" name="adj"/>
            </a:avLst>
          </a:prstGeom>
          <a:solidFill>
            <a:srgbClr val="E7EF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5"/>
          <p:cNvSpPr/>
          <p:nvPr/>
        </p:nvSpPr>
        <p:spPr>
          <a:xfrm>
            <a:off x="603504" y="3886200"/>
            <a:ext cx="1554480" cy="3703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6FED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2F6FED"/>
                </a:solidFill>
                <a:latin typeface="Calibri"/>
                <a:ea typeface="Calibri"/>
                <a:cs typeface="Calibri"/>
                <a:sym typeface="Calibri"/>
              </a:rPr>
              <a:t>Japan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2103120" y="3886200"/>
            <a:ext cx="4297680" cy="3703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34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6234A"/>
                </a:solidFill>
                <a:latin typeface="Calibri"/>
                <a:ea typeface="Calibri"/>
                <a:cs typeface="Calibri"/>
                <a:sym typeface="Calibri"/>
              </a:rPr>
              <a:t>Honda, Toyota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5"/>
          <p:cNvSpPr/>
          <p:nvPr/>
        </p:nvSpPr>
        <p:spPr>
          <a:xfrm>
            <a:off x="457200" y="4329684"/>
            <a:ext cx="6035040" cy="370332"/>
          </a:xfrm>
          <a:prstGeom prst="roundRect">
            <a:avLst>
              <a:gd fmla="val 14815" name="adj"/>
            </a:avLst>
          </a:prstGeom>
          <a:solidFill>
            <a:srgbClr val="E7EF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5"/>
          <p:cNvSpPr/>
          <p:nvPr/>
        </p:nvSpPr>
        <p:spPr>
          <a:xfrm>
            <a:off x="603504" y="4329684"/>
            <a:ext cx="1554480" cy="3703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6FED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2F6FED"/>
                </a:solidFill>
                <a:latin typeface="Calibri"/>
                <a:ea typeface="Calibri"/>
                <a:cs typeface="Calibri"/>
                <a:sym typeface="Calibri"/>
              </a:rPr>
              <a:t>Südkorea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5"/>
          <p:cNvSpPr/>
          <p:nvPr/>
        </p:nvSpPr>
        <p:spPr>
          <a:xfrm>
            <a:off x="2103120" y="4329684"/>
            <a:ext cx="4297680" cy="3703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34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6234A"/>
                </a:solidFill>
                <a:latin typeface="Calibri"/>
                <a:ea typeface="Calibri"/>
                <a:cs typeface="Calibri"/>
                <a:sym typeface="Calibri"/>
              </a:rPr>
              <a:t>Hyundai, Kia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5"/>
          <p:cNvSpPr/>
          <p:nvPr/>
        </p:nvSpPr>
        <p:spPr>
          <a:xfrm>
            <a:off x="457200" y="4773168"/>
            <a:ext cx="6035040" cy="370332"/>
          </a:xfrm>
          <a:prstGeom prst="roundRect">
            <a:avLst>
              <a:gd fmla="val 14815" name="adj"/>
            </a:avLst>
          </a:prstGeom>
          <a:solidFill>
            <a:srgbClr val="E7EF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5"/>
          <p:cNvSpPr/>
          <p:nvPr/>
        </p:nvSpPr>
        <p:spPr>
          <a:xfrm>
            <a:off x="603504" y="4773168"/>
            <a:ext cx="1554480" cy="3703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6FED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2F6FED"/>
                </a:solidFill>
                <a:latin typeface="Calibri"/>
                <a:ea typeface="Calibri"/>
                <a:cs typeface="Calibri"/>
                <a:sym typeface="Calibri"/>
              </a:rPr>
              <a:t>China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2103120" y="4773168"/>
            <a:ext cx="4297680" cy="3703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34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6234A"/>
                </a:solidFill>
                <a:latin typeface="Calibri"/>
                <a:ea typeface="Calibri"/>
                <a:cs typeface="Calibri"/>
                <a:sym typeface="Calibri"/>
              </a:rPr>
              <a:t>BYD, NIO, Xiaomi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5"/>
          <p:cNvSpPr/>
          <p:nvPr/>
        </p:nvSpPr>
        <p:spPr>
          <a:xfrm>
            <a:off x="457200" y="5216652"/>
            <a:ext cx="6035040" cy="370332"/>
          </a:xfrm>
          <a:prstGeom prst="roundRect">
            <a:avLst>
              <a:gd fmla="val 14815" name="adj"/>
            </a:avLst>
          </a:prstGeom>
          <a:solidFill>
            <a:srgbClr val="E7EF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5"/>
          <p:cNvSpPr/>
          <p:nvPr/>
        </p:nvSpPr>
        <p:spPr>
          <a:xfrm>
            <a:off x="603504" y="5216652"/>
            <a:ext cx="1554480" cy="3703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6FED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2F6FED"/>
                </a:solidFill>
                <a:latin typeface="Calibri"/>
                <a:ea typeface="Calibri"/>
                <a:cs typeface="Calibri"/>
                <a:sym typeface="Calibri"/>
              </a:rPr>
              <a:t>Schweden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5"/>
          <p:cNvSpPr/>
          <p:nvPr/>
        </p:nvSpPr>
        <p:spPr>
          <a:xfrm>
            <a:off x="2103120" y="5216652"/>
            <a:ext cx="4297680" cy="3703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34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6234A"/>
                </a:solidFill>
                <a:latin typeface="Calibri"/>
                <a:ea typeface="Calibri"/>
                <a:cs typeface="Calibri"/>
                <a:sym typeface="Calibri"/>
              </a:rPr>
              <a:t>Polestar, Volvo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6720840" y="2670048"/>
            <a:ext cx="4983480" cy="3593592"/>
          </a:xfrm>
          <a:prstGeom prst="roundRect">
            <a:avLst>
              <a:gd fmla="val 2545" name="adj"/>
            </a:avLst>
          </a:prstGeom>
          <a:solidFill>
            <a:srgbClr val="E7EFFB"/>
          </a:solidFill>
          <a:ln>
            <a:noFill/>
          </a:ln>
          <a:effectLst>
            <a:outerShdw blurRad="76200" rotWithShape="0" algn="bl" dir="5400000" dist="25400">
              <a:srgbClr val="16234A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5"/>
          <p:cNvSpPr/>
          <p:nvPr/>
        </p:nvSpPr>
        <p:spPr>
          <a:xfrm>
            <a:off x="6995160" y="2944368"/>
            <a:ext cx="4434840" cy="30449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34A"/>
              </a:buClr>
              <a:buSzPts val="1250"/>
              <a:buFont typeface="Calibri"/>
              <a:buChar char="●"/>
            </a:pPr>
            <a:r>
              <a:rPr b="0" i="0" lang="en-US" sz="1250" u="none" cap="none" strike="noStrike">
                <a:solidFill>
                  <a:srgbClr val="16234A"/>
                </a:solidFill>
                <a:latin typeface="Calibri"/>
                <a:ea typeface="Calibri"/>
                <a:cs typeface="Calibri"/>
                <a:sym typeface="Calibri"/>
              </a:rPr>
              <a:t>Jede Zeile stellt ein Modell einer Marke für ein bestimmtes Jahr und eine Variante dar (base, standard, long range, premium, performance).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16234A"/>
              </a:buClr>
              <a:buSzPts val="1250"/>
              <a:buFont typeface="Calibri"/>
              <a:buChar char="●"/>
            </a:pPr>
            <a:r>
              <a:rPr b="0" i="0" lang="en-US" sz="1250" u="none" cap="none" strike="noStrike">
                <a:solidFill>
                  <a:srgbClr val="16234A"/>
                </a:solidFill>
                <a:latin typeface="Calibri"/>
                <a:ea typeface="Calibri"/>
                <a:cs typeface="Calibri"/>
                <a:sym typeface="Calibri"/>
              </a:rPr>
              <a:t>13 numerische und 7 kategoriale Variablen decken technische Merkmale (Batterie, Reichweite, Leistung) und kommerzielle Kennzahlen (Preis, Absatz, Bewertung) ab.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16234A"/>
              </a:buClr>
              <a:buSzPts val="1250"/>
              <a:buFont typeface="Calibri"/>
              <a:buChar char="●"/>
            </a:pPr>
            <a:r>
              <a:rPr b="0" i="0" lang="en-US" sz="1250" u="none" cap="none" strike="noStrike">
                <a:solidFill>
                  <a:srgbClr val="16234A"/>
                </a:solidFill>
                <a:latin typeface="Calibri"/>
                <a:ea typeface="Calibri"/>
                <a:cs typeface="Calibri"/>
                <a:sym typeface="Calibri"/>
              </a:rPr>
              <a:t>Keine fehlenden Werte und keine Duplikate in allen 24 Spalten — ein vollständiger, konsistenter Datensatz.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16234A"/>
              </a:buClr>
              <a:buSzPts val="1250"/>
              <a:buFont typeface="Calibri"/>
              <a:buChar char="●"/>
            </a:pPr>
            <a:r>
              <a:rPr b="0" i="0" lang="en-US" sz="1250" u="none" cap="none" strike="noStrike">
                <a:solidFill>
                  <a:srgbClr val="16234A"/>
                </a:solidFill>
                <a:latin typeface="Calibri"/>
                <a:ea typeface="Calibri"/>
                <a:cs typeface="Calibri"/>
                <a:sym typeface="Calibri"/>
              </a:rPr>
              <a:t>Solide Grundlage für die explorative Analyse des globalen EV-Marktes.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5"/>
          <p:cNvSpPr/>
          <p:nvPr/>
        </p:nvSpPr>
        <p:spPr>
          <a:xfrm>
            <a:off x="457200" y="6547104"/>
            <a:ext cx="7772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Süha Çağrı Özbakışlar  ·  Elektrofahrzeug-Marktanalyse (EDA)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5"/>
          <p:cNvSpPr/>
          <p:nvPr/>
        </p:nvSpPr>
        <p:spPr>
          <a:xfrm>
            <a:off x="10607040" y="6547104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6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images/icon_barchart.png" id="87" name="Google Shape;87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3263" y="520111"/>
            <a:ext cx="294803" cy="294803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6"/>
          <p:cNvSpPr/>
          <p:nvPr/>
        </p:nvSpPr>
        <p:spPr>
          <a:xfrm>
            <a:off x="1170432" y="365760"/>
            <a:ext cx="9601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6FED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F6FED"/>
                </a:solidFill>
                <a:latin typeface="Calibri"/>
                <a:ea typeface="Calibri"/>
                <a:cs typeface="Calibri"/>
                <a:sym typeface="Calibri"/>
              </a:rPr>
              <a:t>NUMERISCHE &amp; KATEGORIALE VARIABLEN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6"/>
          <p:cNvSpPr/>
          <p:nvPr/>
        </p:nvSpPr>
        <p:spPr>
          <a:xfrm>
            <a:off x="1170432" y="603504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34A"/>
              </a:buClr>
              <a:buSzPts val="2500"/>
              <a:buFont typeface="Cambria"/>
              <a:buNone/>
            </a:pPr>
            <a:r>
              <a:rPr b="1" i="0" lang="en-US" sz="2500" u="none" cap="none" strike="noStrike">
                <a:solidFill>
                  <a:srgbClr val="16234A"/>
                </a:solidFill>
                <a:latin typeface="Cambria"/>
                <a:ea typeface="Cambria"/>
                <a:cs typeface="Cambria"/>
                <a:sym typeface="Cambria"/>
              </a:rPr>
              <a:t>Wichtigste Verteilungen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6"/>
          <p:cNvSpPr/>
          <p:nvPr/>
        </p:nvSpPr>
        <p:spPr>
          <a:xfrm>
            <a:off x="457200" y="1188720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6FED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2F6FED"/>
                </a:solidFill>
                <a:latin typeface="Calibri"/>
                <a:ea typeface="Calibri"/>
                <a:cs typeface="Calibri"/>
                <a:sym typeface="Calibri"/>
              </a:rPr>
              <a:t>Fahrzeugpreis (price_usd)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6"/>
          <p:cNvSpPr/>
          <p:nvPr/>
        </p:nvSpPr>
        <p:spPr>
          <a:xfrm>
            <a:off x="457200" y="1481328"/>
            <a:ext cx="3566160" cy="2816352"/>
          </a:xfrm>
          <a:prstGeom prst="roundRect">
            <a:avLst>
              <a:gd fmla="val 2597" name="adj"/>
            </a:avLst>
          </a:prstGeom>
          <a:solidFill>
            <a:srgbClr val="FFFFFF"/>
          </a:solidFill>
          <a:ln cap="flat" cmpd="sng" w="12700">
            <a:solidFill>
              <a:srgbClr val="D9E2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6234A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images/cell18_0.png" id="92" name="Google Shape;92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6928" y="1591056"/>
            <a:ext cx="3346704" cy="259689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6"/>
          <p:cNvSpPr/>
          <p:nvPr/>
        </p:nvSpPr>
        <p:spPr>
          <a:xfrm>
            <a:off x="4251960" y="1188720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6FED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2F6FED"/>
                </a:solidFill>
                <a:latin typeface="Calibri"/>
                <a:ea typeface="Calibri"/>
                <a:cs typeface="Calibri"/>
                <a:sym typeface="Calibri"/>
              </a:rPr>
              <a:t>Marke (brand)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6"/>
          <p:cNvSpPr/>
          <p:nvPr/>
        </p:nvSpPr>
        <p:spPr>
          <a:xfrm>
            <a:off x="4251960" y="1481328"/>
            <a:ext cx="3566160" cy="2816352"/>
          </a:xfrm>
          <a:prstGeom prst="roundRect">
            <a:avLst>
              <a:gd fmla="val 2597" name="adj"/>
            </a:avLst>
          </a:prstGeom>
          <a:solidFill>
            <a:srgbClr val="FFFFFF"/>
          </a:solidFill>
          <a:ln cap="flat" cmpd="sng" w="12700">
            <a:solidFill>
              <a:srgbClr val="D9E2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6234A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images/cell46_0.png" id="95" name="Google Shape;95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61688" y="1591056"/>
            <a:ext cx="3346704" cy="2596896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6"/>
          <p:cNvSpPr/>
          <p:nvPr/>
        </p:nvSpPr>
        <p:spPr>
          <a:xfrm>
            <a:off x="8046720" y="1188720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6FED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2F6FED"/>
                </a:solidFill>
                <a:latin typeface="Calibri"/>
                <a:ea typeface="Calibri"/>
                <a:cs typeface="Calibri"/>
                <a:sym typeface="Calibri"/>
              </a:rPr>
              <a:t>Marktsegment (market_segment)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6"/>
          <p:cNvSpPr/>
          <p:nvPr/>
        </p:nvSpPr>
        <p:spPr>
          <a:xfrm>
            <a:off x="8046720" y="1481328"/>
            <a:ext cx="3566160" cy="2816352"/>
          </a:xfrm>
          <a:prstGeom prst="roundRect">
            <a:avLst>
              <a:gd fmla="val 2597" name="adj"/>
            </a:avLst>
          </a:prstGeom>
          <a:solidFill>
            <a:srgbClr val="FFFFFF"/>
          </a:solidFill>
          <a:ln cap="flat" cmpd="sng" w="12700">
            <a:solidFill>
              <a:srgbClr val="D9E2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6234A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images/cell58_0.png" id="98" name="Google Shape;98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56448" y="1591056"/>
            <a:ext cx="3346704" cy="2596896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6"/>
          <p:cNvSpPr/>
          <p:nvPr/>
        </p:nvSpPr>
        <p:spPr>
          <a:xfrm>
            <a:off x="457200" y="4572000"/>
            <a:ext cx="11247120" cy="1645920"/>
          </a:xfrm>
          <a:prstGeom prst="roundRect">
            <a:avLst>
              <a:gd fmla="val 5556" name="adj"/>
            </a:avLst>
          </a:prstGeom>
          <a:solidFill>
            <a:srgbClr val="E7EFFB"/>
          </a:solidFill>
          <a:ln>
            <a:noFill/>
          </a:ln>
          <a:effectLst>
            <a:outerShdw blurRad="76200" rotWithShape="0" algn="bl" dir="5400000" dist="25400">
              <a:srgbClr val="16234A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6"/>
          <p:cNvSpPr/>
          <p:nvPr/>
        </p:nvSpPr>
        <p:spPr>
          <a:xfrm>
            <a:off x="694944" y="4809744"/>
            <a:ext cx="10771632" cy="11704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34A"/>
              </a:buClr>
              <a:buSzPts val="1200"/>
              <a:buFont typeface="Calibri"/>
              <a:buChar char="●"/>
            </a:pPr>
            <a:r>
              <a:rPr b="0" i="0" lang="en-US" sz="1200" u="none" cap="none" strike="noStrike">
                <a:solidFill>
                  <a:srgbClr val="16234A"/>
                </a:solidFill>
                <a:latin typeface="Calibri"/>
                <a:ea typeface="Calibri"/>
                <a:cs typeface="Calibri"/>
                <a:sym typeface="Calibri"/>
              </a:rPr>
              <a:t>Fahrzeugpreise sind rechtsschief verteilt (Ø 78.874 $, Median 73.013 $) und konzentrieren sich auf 50.000–100.000 $.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Clr>
                <a:srgbClr val="16234A"/>
              </a:buClr>
              <a:buSzPts val="1200"/>
              <a:buFont typeface="Calibri"/>
              <a:buChar char="●"/>
            </a:pPr>
            <a:r>
              <a:rPr b="0" i="0" lang="en-US" sz="1200" u="none" cap="none" strike="noStrike">
                <a:solidFill>
                  <a:srgbClr val="16234A"/>
                </a:solidFill>
                <a:latin typeface="Calibri"/>
                <a:ea typeface="Calibri"/>
                <a:cs typeface="Calibri"/>
                <a:sym typeface="Calibri"/>
              </a:rPr>
              <a:t>Tesla dominiert mit 434 Fahrzeugen, gefolgt von BYD (282) und Volkswagen (194) — insgesamt 20 Marken im Datensatz.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Clr>
                <a:srgbClr val="16234A"/>
              </a:buClr>
              <a:buSzPts val="1200"/>
              <a:buFont typeface="Calibri"/>
              <a:buChar char="●"/>
            </a:pPr>
            <a:r>
              <a:rPr b="0" i="0" lang="en-US" sz="1200" u="none" cap="none" strike="noStrike">
                <a:solidFill>
                  <a:srgbClr val="16234A"/>
                </a:solidFill>
                <a:latin typeface="Calibri"/>
                <a:ea typeface="Calibri"/>
                <a:cs typeface="Calibri"/>
                <a:sym typeface="Calibri"/>
              </a:rPr>
              <a:t>Der Datensatz fokussiert sich auf die Segmente Premium (712) und Mid-range (642); Budget ist mit 151 am schwächsten vertreten.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6"/>
          <p:cNvSpPr/>
          <p:nvPr/>
        </p:nvSpPr>
        <p:spPr>
          <a:xfrm>
            <a:off x="457200" y="6547104"/>
            <a:ext cx="7772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Süha Çağrı Özbakışlar  ·  Elektrofahrzeug-Marktanalyse (EDA)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6"/>
          <p:cNvSpPr/>
          <p:nvPr/>
        </p:nvSpPr>
        <p:spPr>
          <a:xfrm>
            <a:off x="10607040" y="6547104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7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images/icon_trending.png" id="109" name="Google Shape;109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3263" y="520111"/>
            <a:ext cx="294803" cy="294803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7"/>
          <p:cNvSpPr/>
          <p:nvPr/>
        </p:nvSpPr>
        <p:spPr>
          <a:xfrm>
            <a:off x="1170432" y="365760"/>
            <a:ext cx="9601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6FED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F6FED"/>
                </a:solidFill>
                <a:latin typeface="Calibri"/>
                <a:ea typeface="Calibri"/>
                <a:cs typeface="Calibri"/>
                <a:sym typeface="Calibri"/>
              </a:rPr>
              <a:t>BIVARIATE ANALYSE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7"/>
          <p:cNvSpPr/>
          <p:nvPr/>
        </p:nvSpPr>
        <p:spPr>
          <a:xfrm>
            <a:off x="1170432" y="603504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34A"/>
              </a:buClr>
              <a:buSzPts val="2500"/>
              <a:buFont typeface="Cambria"/>
              <a:buNone/>
            </a:pPr>
            <a:r>
              <a:rPr b="1" i="0" lang="en-US" sz="2500" u="none" cap="none" strike="noStrike">
                <a:solidFill>
                  <a:srgbClr val="16234A"/>
                </a:solidFill>
                <a:latin typeface="Cambria"/>
                <a:ea typeface="Cambria"/>
                <a:cs typeface="Cambria"/>
                <a:sym typeface="Cambria"/>
              </a:rPr>
              <a:t>Zusammenhänge &amp; Korrelationen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7"/>
          <p:cNvSpPr/>
          <p:nvPr/>
        </p:nvSpPr>
        <p:spPr>
          <a:xfrm>
            <a:off x="457200" y="1417320"/>
            <a:ext cx="6675120" cy="4846320"/>
          </a:xfrm>
          <a:prstGeom prst="roundRect">
            <a:avLst>
              <a:gd fmla="val 1509" name="adj"/>
            </a:avLst>
          </a:prstGeom>
          <a:solidFill>
            <a:srgbClr val="FFFFFF"/>
          </a:solidFill>
          <a:ln cap="flat" cmpd="sng" w="12700">
            <a:solidFill>
              <a:srgbClr val="D9E2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6234A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images/cell61_0.png" id="113" name="Google Shape;113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6928" y="1527048"/>
            <a:ext cx="6455664" cy="4626864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7"/>
          <p:cNvSpPr/>
          <p:nvPr/>
        </p:nvSpPr>
        <p:spPr>
          <a:xfrm>
            <a:off x="7360920" y="1417320"/>
            <a:ext cx="4343400" cy="1463040"/>
          </a:xfrm>
          <a:prstGeom prst="roundRect">
            <a:avLst>
              <a:gd fmla="val 6250" name="adj"/>
            </a:avLst>
          </a:prstGeom>
          <a:solidFill>
            <a:srgbClr val="1623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7"/>
          <p:cNvSpPr/>
          <p:nvPr/>
        </p:nvSpPr>
        <p:spPr>
          <a:xfrm>
            <a:off x="7525512" y="1563624"/>
            <a:ext cx="40142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B5C9"/>
              </a:buClr>
              <a:buSzPts val="2400"/>
              <a:buFont typeface="Cambria"/>
              <a:buNone/>
            </a:pPr>
            <a:r>
              <a:rPr b="1" i="0" lang="en-US" sz="2400" u="none" cap="none" strike="noStrike">
                <a:solidFill>
                  <a:srgbClr val="0FB5C9"/>
                </a:solidFill>
                <a:latin typeface="Cambria"/>
                <a:ea typeface="Cambria"/>
                <a:cs typeface="Cambria"/>
                <a:sym typeface="Cambria"/>
              </a:rPr>
              <a:t>r = 0,978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7"/>
          <p:cNvSpPr/>
          <p:nvPr/>
        </p:nvSpPr>
        <p:spPr>
          <a:xfrm>
            <a:off x="7525512" y="2273850"/>
            <a:ext cx="4014300" cy="64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Batteriekapazität ↔ Reichweite (sehr stark) — größere Batterie, mehr Reichweite.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7"/>
          <p:cNvSpPr/>
          <p:nvPr/>
        </p:nvSpPr>
        <p:spPr>
          <a:xfrm>
            <a:off x="7360920" y="3017520"/>
            <a:ext cx="4343400" cy="1463040"/>
          </a:xfrm>
          <a:prstGeom prst="roundRect">
            <a:avLst>
              <a:gd fmla="val 6250" name="adj"/>
            </a:avLst>
          </a:prstGeom>
          <a:solidFill>
            <a:srgbClr val="1623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7"/>
          <p:cNvSpPr/>
          <p:nvPr/>
        </p:nvSpPr>
        <p:spPr>
          <a:xfrm>
            <a:off x="7525512" y="3163824"/>
            <a:ext cx="40142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B5C9"/>
              </a:buClr>
              <a:buSzPts val="2400"/>
              <a:buFont typeface="Cambria"/>
              <a:buNone/>
            </a:pPr>
            <a:r>
              <a:rPr b="1" i="0" lang="en-US" sz="2400" u="none" cap="none" strike="noStrike">
                <a:solidFill>
                  <a:srgbClr val="0FB5C9"/>
                </a:solidFill>
                <a:latin typeface="Cambria"/>
                <a:ea typeface="Cambria"/>
                <a:cs typeface="Cambria"/>
                <a:sym typeface="Cambria"/>
              </a:rPr>
              <a:t>r = 0,765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7"/>
          <p:cNvSpPr/>
          <p:nvPr/>
        </p:nvSpPr>
        <p:spPr>
          <a:xfrm>
            <a:off x="7525512" y="3874050"/>
            <a:ext cx="4014300" cy="64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Motorleistung ↔ Preis (stark) — Preis nicht allein durch Leistung erklärbar.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7"/>
          <p:cNvSpPr/>
          <p:nvPr/>
        </p:nvSpPr>
        <p:spPr>
          <a:xfrm>
            <a:off x="7360920" y="4617720"/>
            <a:ext cx="4343400" cy="1463040"/>
          </a:xfrm>
          <a:prstGeom prst="roundRect">
            <a:avLst>
              <a:gd fmla="val 6250" name="adj"/>
            </a:avLst>
          </a:prstGeom>
          <a:solidFill>
            <a:srgbClr val="1623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7"/>
          <p:cNvSpPr/>
          <p:nvPr/>
        </p:nvSpPr>
        <p:spPr>
          <a:xfrm>
            <a:off x="7525512" y="4764024"/>
            <a:ext cx="40142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B5C9"/>
              </a:buClr>
              <a:buSzPts val="2400"/>
              <a:buFont typeface="Cambria"/>
              <a:buNone/>
            </a:pPr>
            <a:r>
              <a:rPr b="1" i="0" lang="en-US" sz="2400" u="none" cap="none" strike="noStrike">
                <a:solidFill>
                  <a:srgbClr val="0FB5C9"/>
                </a:solidFill>
                <a:latin typeface="Cambria"/>
                <a:ea typeface="Cambria"/>
                <a:cs typeface="Cambria"/>
                <a:sym typeface="Cambria"/>
              </a:rPr>
              <a:t>r = 0,668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7"/>
          <p:cNvSpPr/>
          <p:nvPr/>
        </p:nvSpPr>
        <p:spPr>
          <a:xfrm>
            <a:off x="7525512" y="5474250"/>
            <a:ext cx="4014300" cy="64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Reichweite ↔ Kundenbewertung (mittelstark) — mehr Reichweite, höhere Zufriedenheit.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7"/>
          <p:cNvSpPr/>
          <p:nvPr/>
        </p:nvSpPr>
        <p:spPr>
          <a:xfrm>
            <a:off x="457200" y="6547104"/>
            <a:ext cx="7772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Süha Çağrı Özbakışlar  ·  Elektrofahrzeug-Marktanalyse (EDA)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7"/>
          <p:cNvSpPr/>
          <p:nvPr/>
        </p:nvSpPr>
        <p:spPr>
          <a:xfrm>
            <a:off x="10607040" y="6547104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6234A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8"/>
          <p:cNvSpPr/>
          <p:nvPr/>
        </p:nvSpPr>
        <p:spPr>
          <a:xfrm>
            <a:off x="8961120" y="-2011680"/>
            <a:ext cx="5943600" cy="5943600"/>
          </a:xfrm>
          <a:prstGeom prst="ellipse">
            <a:avLst/>
          </a:prstGeom>
          <a:solidFill>
            <a:srgbClr val="1F356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8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images/icon_award.png" id="132" name="Google Shape;132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3263" y="520111"/>
            <a:ext cx="294803" cy="29480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8"/>
          <p:cNvSpPr/>
          <p:nvPr/>
        </p:nvSpPr>
        <p:spPr>
          <a:xfrm>
            <a:off x="1170432" y="435944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500"/>
              <a:buFont typeface="Cambria"/>
              <a:buNone/>
            </a:pPr>
            <a:r>
              <a:rPr b="1" i="0" lang="en-US" sz="25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Geschäftliche Erkenntnisse &amp; Fazit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8"/>
          <p:cNvSpPr/>
          <p:nvPr/>
        </p:nvSpPr>
        <p:spPr>
          <a:xfrm>
            <a:off x="457200" y="1691640"/>
            <a:ext cx="11247120" cy="868680"/>
          </a:xfrm>
          <a:prstGeom prst="roundRect">
            <a:avLst>
              <a:gd fmla="val 8421" name="adj"/>
            </a:avLst>
          </a:prstGeom>
          <a:solidFill>
            <a:srgbClr val="1F356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"/>
          <p:cNvSpPr/>
          <p:nvPr/>
        </p:nvSpPr>
        <p:spPr>
          <a:xfrm>
            <a:off x="658368" y="1851660"/>
            <a:ext cx="548640" cy="548640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images/icon_zap.png" id="136" name="Google Shape;136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90042" y="1983334"/>
            <a:ext cx="285293" cy="285293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8"/>
          <p:cNvSpPr/>
          <p:nvPr/>
        </p:nvSpPr>
        <p:spPr>
          <a:xfrm>
            <a:off x="1389888" y="1773936"/>
            <a:ext cx="99669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Batteriekapazität als stärkster Reichweitentreiber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8"/>
          <p:cNvSpPr/>
          <p:nvPr/>
        </p:nvSpPr>
        <p:spPr>
          <a:xfrm>
            <a:off x="1389888" y="2112264"/>
            <a:ext cx="9966960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AFC3E8"/>
              </a:buClr>
              <a:buSzPts val="1080"/>
              <a:buFont typeface="Calibri"/>
              <a:buNone/>
            </a:pPr>
            <a:r>
              <a:rPr b="0" i="0" lang="en-US" sz="1080" u="none" cap="none" strike="noStrike">
                <a:solidFill>
                  <a:srgbClr val="AFC3E8"/>
                </a:solidFill>
                <a:latin typeface="Calibri"/>
                <a:ea typeface="Calibri"/>
                <a:cs typeface="Calibri"/>
                <a:sym typeface="Calibri"/>
              </a:rPr>
              <a:t>Sehr starker Zusammenhang (r = 0,978) — größere Batteriepakete bedeuten deutlich mehr Reichweite.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8"/>
          <p:cNvSpPr/>
          <p:nvPr/>
        </p:nvSpPr>
        <p:spPr>
          <a:xfrm>
            <a:off x="457200" y="2670048"/>
            <a:ext cx="11247120" cy="868680"/>
          </a:xfrm>
          <a:prstGeom prst="roundRect">
            <a:avLst>
              <a:gd fmla="val 8421" name="adj"/>
            </a:avLst>
          </a:prstGeom>
          <a:solidFill>
            <a:srgbClr val="1F356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8"/>
          <p:cNvSpPr/>
          <p:nvPr/>
        </p:nvSpPr>
        <p:spPr>
          <a:xfrm>
            <a:off x="658368" y="2830068"/>
            <a:ext cx="548640" cy="548640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images/icon_dollar.png" id="141" name="Google Shape;14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90042" y="2961742"/>
            <a:ext cx="285293" cy="285293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8"/>
          <p:cNvSpPr/>
          <p:nvPr/>
        </p:nvSpPr>
        <p:spPr>
          <a:xfrm>
            <a:off x="1389888" y="2752344"/>
            <a:ext cx="99669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Leistung prägt den Preis stärker als die Batterie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8"/>
          <p:cNvSpPr/>
          <p:nvPr/>
        </p:nvSpPr>
        <p:spPr>
          <a:xfrm>
            <a:off x="1389888" y="3090672"/>
            <a:ext cx="9966960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AFC3E8"/>
              </a:buClr>
              <a:buSzPts val="1080"/>
              <a:buFont typeface="Calibri"/>
              <a:buNone/>
            </a:pPr>
            <a:r>
              <a:rPr b="0" i="0" lang="en-US" sz="1080" u="none" cap="none" strike="noStrike">
                <a:solidFill>
                  <a:srgbClr val="AFC3E8"/>
                </a:solidFill>
                <a:latin typeface="Calibri"/>
                <a:ea typeface="Calibri"/>
                <a:cs typeface="Calibri"/>
                <a:sym typeface="Calibri"/>
              </a:rPr>
              <a:t>Preis ↔ Leistung (r = 0,765) ist viel stärker als Preis ↔ Batteriekapazität (r = 0,164).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8"/>
          <p:cNvSpPr/>
          <p:nvPr/>
        </p:nvSpPr>
        <p:spPr>
          <a:xfrm>
            <a:off x="457200" y="3648456"/>
            <a:ext cx="11247120" cy="868680"/>
          </a:xfrm>
          <a:prstGeom prst="roundRect">
            <a:avLst>
              <a:gd fmla="val 8421" name="adj"/>
            </a:avLst>
          </a:prstGeom>
          <a:solidFill>
            <a:srgbClr val="1F356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"/>
          <p:cNvSpPr/>
          <p:nvPr/>
        </p:nvSpPr>
        <p:spPr>
          <a:xfrm>
            <a:off x="658368" y="3808476"/>
            <a:ext cx="548640" cy="548640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images/icon_trending.png" id="146" name="Google Shape;146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90042" y="3940150"/>
            <a:ext cx="285293" cy="285293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8"/>
          <p:cNvSpPr/>
          <p:nvPr/>
        </p:nvSpPr>
        <p:spPr>
          <a:xfrm>
            <a:off x="1389888" y="3730752"/>
            <a:ext cx="99669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Hoher Preis bedeutet nicht automatisch hohen Absatz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8"/>
          <p:cNvSpPr/>
          <p:nvPr/>
        </p:nvSpPr>
        <p:spPr>
          <a:xfrm>
            <a:off x="1389888" y="4069080"/>
            <a:ext cx="9966960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AFC3E8"/>
              </a:buClr>
              <a:buSzPts val="1080"/>
              <a:buFont typeface="Calibri"/>
              <a:buNone/>
            </a:pPr>
            <a:r>
              <a:rPr b="0" i="0" lang="en-US" sz="1080" u="none" cap="none" strike="noStrike">
                <a:solidFill>
                  <a:srgbClr val="AFC3E8"/>
                </a:solidFill>
                <a:latin typeface="Calibri"/>
                <a:ea typeface="Calibri"/>
                <a:cs typeface="Calibri"/>
                <a:sym typeface="Calibri"/>
              </a:rPr>
              <a:t>Lucid führt beim Preis, doch VW, Tesla und das Budget-Segment führen beim Absatz.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8"/>
          <p:cNvSpPr/>
          <p:nvPr/>
        </p:nvSpPr>
        <p:spPr>
          <a:xfrm>
            <a:off x="457200" y="4626864"/>
            <a:ext cx="11247120" cy="868680"/>
          </a:xfrm>
          <a:prstGeom prst="roundRect">
            <a:avLst>
              <a:gd fmla="val 8421" name="adj"/>
            </a:avLst>
          </a:prstGeom>
          <a:solidFill>
            <a:srgbClr val="1F356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8"/>
          <p:cNvSpPr/>
          <p:nvPr/>
        </p:nvSpPr>
        <p:spPr>
          <a:xfrm>
            <a:off x="658368" y="4786884"/>
            <a:ext cx="548640" cy="548640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images/icon_grid.png" id="151" name="Google Shape;151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90042" y="4918558"/>
            <a:ext cx="285293" cy="285293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8"/>
          <p:cNvSpPr/>
          <p:nvPr/>
        </p:nvSpPr>
        <p:spPr>
          <a:xfrm>
            <a:off x="1389888" y="4709160"/>
            <a:ext cx="99669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Mehrere Faktoren wirken gemeinsam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8"/>
          <p:cNvSpPr/>
          <p:nvPr/>
        </p:nvSpPr>
        <p:spPr>
          <a:xfrm>
            <a:off x="1389888" y="5047488"/>
            <a:ext cx="9966960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AFC3E8"/>
              </a:buClr>
              <a:buSzPts val="1080"/>
              <a:buFont typeface="Calibri"/>
              <a:buNone/>
            </a:pPr>
            <a:r>
              <a:rPr b="0" i="0" lang="en-US" sz="1080" u="none" cap="none" strike="noStrike">
                <a:solidFill>
                  <a:srgbClr val="AFC3E8"/>
                </a:solidFill>
                <a:latin typeface="Calibri"/>
                <a:ea typeface="Calibri"/>
                <a:cs typeface="Calibri"/>
                <a:sym typeface="Calibri"/>
              </a:rPr>
              <a:t>Preis, Zufriedenheit und Absatz erklären sich nur im Zusammenspiel von Marke, Segment und Technik.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8"/>
          <p:cNvSpPr/>
          <p:nvPr/>
        </p:nvSpPr>
        <p:spPr>
          <a:xfrm>
            <a:off x="457200" y="5678424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FB5C9"/>
              </a:buClr>
              <a:buSzPts val="1250"/>
              <a:buFont typeface="Calibri"/>
              <a:buNone/>
            </a:pPr>
            <a:r>
              <a:rPr b="0" i="1" lang="en-US" sz="1250" u="none" cap="none" strike="noStrike">
                <a:solidFill>
                  <a:srgbClr val="0FB5C9"/>
                </a:solidFill>
                <a:latin typeface="Calibri"/>
                <a:ea typeface="Calibri"/>
                <a:cs typeface="Calibri"/>
                <a:sym typeface="Calibri"/>
              </a:rPr>
              <a:t>Fazit: Der Datensatz ist vollständig, konsistent und bildet eine solide Grundlage für prädiktive Modellierung und Business-Intelligence-Anwendungen.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8"/>
          <p:cNvSpPr/>
          <p:nvPr/>
        </p:nvSpPr>
        <p:spPr>
          <a:xfrm>
            <a:off x="0" y="6492240"/>
            <a:ext cx="121916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Erstellt von:  Süha Çağrı Özbakışlar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